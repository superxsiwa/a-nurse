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8" r:id="rId1"/>
  </p:sldMasterIdLst>
  <p:notesMasterIdLst>
    <p:notesMasterId r:id="rId50"/>
  </p:notesMasterIdLst>
  <p:sldIdLst>
    <p:sldId id="256" r:id="rId2"/>
    <p:sldId id="279" r:id="rId3"/>
    <p:sldId id="257" r:id="rId4"/>
    <p:sldId id="280" r:id="rId5"/>
    <p:sldId id="281" r:id="rId6"/>
    <p:sldId id="282" r:id="rId7"/>
    <p:sldId id="258" r:id="rId8"/>
    <p:sldId id="259" r:id="rId9"/>
    <p:sldId id="283" r:id="rId10"/>
    <p:sldId id="261" r:id="rId11"/>
    <p:sldId id="284" r:id="rId12"/>
    <p:sldId id="285" r:id="rId13"/>
    <p:sldId id="267" r:id="rId14"/>
    <p:sldId id="286" r:id="rId15"/>
    <p:sldId id="287" r:id="rId16"/>
    <p:sldId id="265" r:id="rId17"/>
    <p:sldId id="288" r:id="rId18"/>
    <p:sldId id="263" r:id="rId19"/>
    <p:sldId id="264" r:id="rId20"/>
    <p:sldId id="298" r:id="rId21"/>
    <p:sldId id="299" r:id="rId22"/>
    <p:sldId id="300" r:id="rId23"/>
    <p:sldId id="301" r:id="rId24"/>
    <p:sldId id="302" r:id="rId25"/>
    <p:sldId id="303" r:id="rId26"/>
    <p:sldId id="304" r:id="rId27"/>
    <p:sldId id="305" r:id="rId28"/>
    <p:sldId id="306" r:id="rId29"/>
    <p:sldId id="307" r:id="rId30"/>
    <p:sldId id="312" r:id="rId31"/>
    <p:sldId id="313" r:id="rId32"/>
    <p:sldId id="314" r:id="rId33"/>
    <p:sldId id="315" r:id="rId34"/>
    <p:sldId id="316" r:id="rId35"/>
    <p:sldId id="266" r:id="rId36"/>
    <p:sldId id="268" r:id="rId37"/>
    <p:sldId id="269" r:id="rId38"/>
    <p:sldId id="289" r:id="rId39"/>
    <p:sldId id="290" r:id="rId40"/>
    <p:sldId id="291" r:id="rId41"/>
    <p:sldId id="292" r:id="rId42"/>
    <p:sldId id="293" r:id="rId43"/>
    <p:sldId id="294" r:id="rId44"/>
    <p:sldId id="308" r:id="rId45"/>
    <p:sldId id="309" r:id="rId46"/>
    <p:sldId id="310" r:id="rId47"/>
    <p:sldId id="311" r:id="rId48"/>
    <p:sldId id="295" r:id="rId4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ลักษณะสีปานกลาง 2 - เน้น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60" autoAdjust="0"/>
    <p:restoredTop sz="94671" autoAdjust="0"/>
  </p:normalViewPr>
  <p:slideViewPr>
    <p:cSldViewPr>
      <p:cViewPr varScale="1">
        <p:scale>
          <a:sx n="60" d="100"/>
          <a:sy n="60" d="100"/>
        </p:scale>
        <p:origin x="1392" y="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0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ัวกระดาษ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ตัวแทนวันที่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91ABEA-B34F-46FA-B42D-38189D2381DB}" type="datetimeFigureOut">
              <a:rPr lang="th-TH" smtClean="0"/>
              <a:t>21/05/69</a:t>
            </a:fld>
            <a:endParaRPr lang="th-TH"/>
          </a:p>
        </p:txBody>
      </p:sp>
      <p:sp>
        <p:nvSpPr>
          <p:cNvPr id="4" name="ตัวแทนรูปบนภาพนิ่ง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ตัวแทนบันทึกย่อ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ตัวแทนหมายเลขภาพนิ่ง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D410DD-6330-41F6-8678-454C3361933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7878509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แทนบันทึกย่อ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ตัวแทน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D410DD-6330-41F6-8678-454C33619338}" type="slidenum">
              <a:rPr lang="th-TH" smtClean="0"/>
              <a:t>19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76316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ภาพนิ่งชื่อเรื่อง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th-TH"/>
              <a:t>คลิกเพื่อแก้ไขลักษณะชื่อเรื่องต้นแบบ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th-TH"/>
              <a:t>คลิกเพื่อแก้ไขลักษณะชื่อเรื่องรองต้นแบบ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B0777-4C60-462E-A92C-CDAFD498799C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E6EB8-52AB-45EA-A660-3E1EBFA72987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ชื่อเรื่อง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h-TH"/>
              <a:t>คลิกเพื่อแก้ไขลักษณะชื่อเรื่องต้นแบบ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th-TH"/>
              <a:t>คลิกเพื่อแก้ไขลักษณะของข้อความต้นแบบ</a:t>
            </a:r>
          </a:p>
          <a:p>
            <a:pPr lvl="1" eaLnBrk="1" latinLnBrk="0" hangingPunct="1"/>
            <a:r>
              <a:rPr lang="th-TH"/>
              <a:t>ระดับที่สอง</a:t>
            </a:r>
          </a:p>
          <a:p>
            <a:pPr lvl="2" eaLnBrk="1" latinLnBrk="0" hangingPunct="1"/>
            <a:r>
              <a:rPr lang="th-TH"/>
              <a:t>ระดับที่สาม</a:t>
            </a:r>
          </a:p>
          <a:p>
            <a:pPr lvl="3" eaLnBrk="1" latinLnBrk="0" hangingPunct="1"/>
            <a:r>
              <a:rPr lang="th-TH"/>
              <a:t>ระดับที่สี่</a:t>
            </a:r>
          </a:p>
          <a:p>
            <a:pPr lvl="4" eaLnBrk="1" latinLnBrk="0" hangingPunct="1"/>
            <a:r>
              <a:rPr lang="th-TH"/>
              <a:t>ระดับที่ห้า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B0777-4C60-462E-A92C-CDAFD498799C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E6EB8-52AB-45EA-A660-3E1EBFA7298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ส่วนหัวของส่วน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th-TH"/>
              <a:t>คลิกเพื่อแก้ไขลักษณะชื่อเรื่องต้นแบบ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th-TH"/>
              <a:t>คลิกเพื่อแก้ไขลักษณะของข้อความต้นแบบ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B0777-4C60-462E-A92C-CDAFD498799C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E6EB8-52AB-45EA-A660-3E1EBFA72987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เนื้อหา 2 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th-TH"/>
              <a:t>คลิกเพื่อแก้ไขลักษณะชื่อเรื่องต้นแบบ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th-TH"/>
              <a:t>คลิกเพื่อแก้ไขลักษณะของข้อความต้นแบบ</a:t>
            </a:r>
          </a:p>
          <a:p>
            <a:pPr lvl="1" eaLnBrk="1" latinLnBrk="0" hangingPunct="1"/>
            <a:r>
              <a:rPr lang="th-TH"/>
              <a:t>ระดับที่สอง</a:t>
            </a:r>
          </a:p>
          <a:p>
            <a:pPr lvl="2" eaLnBrk="1" latinLnBrk="0" hangingPunct="1"/>
            <a:r>
              <a:rPr lang="th-TH"/>
              <a:t>ระดับที่สาม</a:t>
            </a:r>
          </a:p>
          <a:p>
            <a:pPr lvl="3" eaLnBrk="1" latinLnBrk="0" hangingPunct="1"/>
            <a:r>
              <a:rPr lang="th-TH"/>
              <a:t>ระดับที่สี่</a:t>
            </a:r>
          </a:p>
          <a:p>
            <a:pPr lvl="4" eaLnBrk="1" latinLnBrk="0" hangingPunct="1"/>
            <a:r>
              <a:rPr lang="th-TH"/>
              <a:t>ระดับที่ห้า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th-TH"/>
              <a:t>คลิกเพื่อแก้ไขลักษณะของข้อความต้นแบบ</a:t>
            </a:r>
          </a:p>
          <a:p>
            <a:pPr lvl="1" eaLnBrk="1" latinLnBrk="0" hangingPunct="1"/>
            <a:r>
              <a:rPr lang="th-TH"/>
              <a:t>ระดับที่สอง</a:t>
            </a:r>
          </a:p>
          <a:p>
            <a:pPr lvl="2" eaLnBrk="1" latinLnBrk="0" hangingPunct="1"/>
            <a:r>
              <a:rPr lang="th-TH"/>
              <a:t>ระดับที่สาม</a:t>
            </a:r>
          </a:p>
          <a:p>
            <a:pPr lvl="3" eaLnBrk="1" latinLnBrk="0" hangingPunct="1"/>
            <a:r>
              <a:rPr lang="th-TH"/>
              <a:t>ระดับที่สี่</a:t>
            </a:r>
          </a:p>
          <a:p>
            <a:pPr lvl="4" eaLnBrk="1" latinLnBrk="0" hangingPunct="1"/>
            <a:r>
              <a:rPr lang="th-TH"/>
              <a:t>ระดับที่ห้า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B0777-4C60-462E-A92C-CDAFD498799C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E6EB8-52AB-45EA-A660-3E1EBFA7298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th-TH"/>
              <a:t>คลิกเพื่อแก้ไขลักษณะชื่อเรื่องต้นแบบ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th-TH"/>
              <a:t>คลิกเพื่อแก้ไขลักษณะของข้อความต้นแบบ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th-TH"/>
              <a:t>คลิกเพื่อแก้ไขลักษณะของข้อความต้นแบบ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th-TH"/>
              <a:t>คลิกเพื่อแก้ไขลักษณะของข้อความต้นแบบ</a:t>
            </a:r>
          </a:p>
          <a:p>
            <a:pPr lvl="1" eaLnBrk="1" latinLnBrk="0" hangingPunct="1"/>
            <a:r>
              <a:rPr lang="th-TH"/>
              <a:t>ระดับที่สอง</a:t>
            </a:r>
          </a:p>
          <a:p>
            <a:pPr lvl="2" eaLnBrk="1" latinLnBrk="0" hangingPunct="1"/>
            <a:r>
              <a:rPr lang="th-TH"/>
              <a:t>ระดับที่สาม</a:t>
            </a:r>
          </a:p>
          <a:p>
            <a:pPr lvl="3" eaLnBrk="1" latinLnBrk="0" hangingPunct="1"/>
            <a:r>
              <a:rPr lang="th-TH"/>
              <a:t>ระดับที่สี่</a:t>
            </a:r>
          </a:p>
          <a:p>
            <a:pPr lvl="4" eaLnBrk="1" latinLnBrk="0" hangingPunct="1"/>
            <a:r>
              <a:rPr lang="th-TH"/>
              <a:t>ระดับที่ห้า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th-TH"/>
              <a:t>คลิกเพื่อแก้ไขลักษณะของข้อความต้นแบบ</a:t>
            </a:r>
          </a:p>
          <a:p>
            <a:pPr lvl="1" eaLnBrk="1" latinLnBrk="0" hangingPunct="1"/>
            <a:r>
              <a:rPr lang="th-TH"/>
              <a:t>ระดับที่สอง</a:t>
            </a:r>
          </a:p>
          <a:p>
            <a:pPr lvl="2" eaLnBrk="1" latinLnBrk="0" hangingPunct="1"/>
            <a:r>
              <a:rPr lang="th-TH"/>
              <a:t>ระดับที่สาม</a:t>
            </a:r>
          </a:p>
          <a:p>
            <a:pPr lvl="3" eaLnBrk="1" latinLnBrk="0" hangingPunct="1"/>
            <a:r>
              <a:rPr lang="th-TH"/>
              <a:t>ระดับที่สี่</a:t>
            </a:r>
          </a:p>
          <a:p>
            <a:pPr lvl="4" eaLnBrk="1" latinLnBrk="0" hangingPunct="1"/>
            <a:r>
              <a:rPr lang="th-TH"/>
              <a:t>ระดับที่ห้า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B0777-4C60-462E-A92C-CDAFD498799C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E6EB8-52AB-45EA-A660-3E1EBFA7298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เฉพาะ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th-TH"/>
              <a:t>คลิกเพื่อแก้ไขลักษณะชื่อเรื่องต้นแบบ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B0777-4C60-462E-A92C-CDAFD498799C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E6EB8-52AB-45EA-A660-3E1EBFA7298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ว่างเปล่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B0777-4C60-462E-A92C-CDAFD498799C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E6EB8-52AB-45EA-A660-3E1EBFA7298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เนื้อหา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th-TH"/>
              <a:t>คลิกเพื่อแก้ไขลักษณะชื่อเรื่องต้นแบบ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th-TH"/>
              <a:t>คลิกเพื่อแก้ไขลักษณะของข้อความต้นแบบ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th-TH"/>
              <a:t>คลิกเพื่อแก้ไขลักษณะของข้อความต้นแบบ</a:t>
            </a:r>
          </a:p>
          <a:p>
            <a:pPr lvl="1" eaLnBrk="1" latinLnBrk="0" hangingPunct="1"/>
            <a:r>
              <a:rPr lang="th-TH"/>
              <a:t>ระดับที่สอง</a:t>
            </a:r>
          </a:p>
          <a:p>
            <a:pPr lvl="2" eaLnBrk="1" latinLnBrk="0" hangingPunct="1"/>
            <a:r>
              <a:rPr lang="th-TH"/>
              <a:t>ระดับที่สาม</a:t>
            </a:r>
          </a:p>
          <a:p>
            <a:pPr lvl="3" eaLnBrk="1" latinLnBrk="0" hangingPunct="1"/>
            <a:r>
              <a:rPr lang="th-TH"/>
              <a:t>ระดับที่สี่</a:t>
            </a:r>
          </a:p>
          <a:p>
            <a:pPr lvl="4" eaLnBrk="1" latinLnBrk="0" hangingPunct="1"/>
            <a:r>
              <a:rPr lang="th-TH"/>
              <a:t>ระดับที่ห้า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B0777-4C60-462E-A92C-CDAFD498799C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E6EB8-52AB-45EA-A660-3E1EBFA7298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รูปภาพ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th-TH"/>
              <a:t>คลิกเพื่อแก้ไขลักษณะชื่อเรื่องต้นแบบ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th-TH"/>
              <a:t>คลิกเพื่อแก้ไขลักษณะของข้อความต้นแบบ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B0777-4C60-462E-A92C-CDAFD498799C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59DE6EB8-52AB-45EA-A660-3E1EBFA72987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th-TH"/>
              <a:t>คลิกไอคอนเพื่อเพิ่มรูปภาพ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ชื่อเรื่องและข้อความ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h-TH"/>
              <a:t>คลิกเพื่อแก้ไขลักษณะชื่อเรื่องต้นแบบ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th-TH"/>
              <a:t>คลิกเพื่อแก้ไขลักษณะของข้อความต้นแบบ</a:t>
            </a:r>
          </a:p>
          <a:p>
            <a:pPr lvl="1" eaLnBrk="1" latinLnBrk="0" hangingPunct="1"/>
            <a:r>
              <a:rPr lang="th-TH"/>
              <a:t>ระดับที่สอง</a:t>
            </a:r>
          </a:p>
          <a:p>
            <a:pPr lvl="2" eaLnBrk="1" latinLnBrk="0" hangingPunct="1"/>
            <a:r>
              <a:rPr lang="th-TH"/>
              <a:t>ระดับที่สาม</a:t>
            </a:r>
          </a:p>
          <a:p>
            <a:pPr lvl="3" eaLnBrk="1" latinLnBrk="0" hangingPunct="1"/>
            <a:r>
              <a:rPr lang="th-TH"/>
              <a:t>ระดับที่สี่</a:t>
            </a:r>
          </a:p>
          <a:p>
            <a:pPr lvl="4" eaLnBrk="1" latinLnBrk="0" hangingPunct="1"/>
            <a:r>
              <a:rPr lang="th-TH"/>
              <a:t>ระดับที่ห้า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B0777-4C60-462E-A92C-CDAFD498799C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E6EB8-52AB-45EA-A660-3E1EBFA7298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ข้อความและชื่อเรื่อง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th-TH"/>
              <a:t>คลิกเพื่อแก้ไขลักษณะชื่อเรื่องต้นแบบ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th-TH"/>
              <a:t>คลิกเพื่อแก้ไขลักษณะของข้อความต้นแบบ</a:t>
            </a:r>
          </a:p>
          <a:p>
            <a:pPr lvl="1" eaLnBrk="1" latinLnBrk="0" hangingPunct="1"/>
            <a:r>
              <a:rPr lang="th-TH"/>
              <a:t>ระดับที่สอง</a:t>
            </a:r>
          </a:p>
          <a:p>
            <a:pPr lvl="2" eaLnBrk="1" latinLnBrk="0" hangingPunct="1"/>
            <a:r>
              <a:rPr lang="th-TH"/>
              <a:t>ระดับที่สาม</a:t>
            </a:r>
          </a:p>
          <a:p>
            <a:pPr lvl="3" eaLnBrk="1" latinLnBrk="0" hangingPunct="1"/>
            <a:r>
              <a:rPr lang="th-TH"/>
              <a:t>ระดับที่สี่</a:t>
            </a:r>
          </a:p>
          <a:p>
            <a:pPr lvl="4" eaLnBrk="1" latinLnBrk="0" hangingPunct="1"/>
            <a:r>
              <a:rPr lang="th-TH"/>
              <a:t>ระดับที่ห้า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B0777-4C60-462E-A92C-CDAFD498799C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E6EB8-52AB-45EA-A660-3E1EBFA7298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th-TH"/>
              <a:t>คลิกเพื่อแก้ไขลักษณะชื่อเรื่องต้นแบบ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th-TH"/>
              <a:t>คลิกเพื่อแก้ไขลักษณะของข้อความต้นแบบ</a:t>
            </a:r>
          </a:p>
          <a:p>
            <a:pPr lvl="1" eaLnBrk="1" latinLnBrk="0" hangingPunct="1"/>
            <a:r>
              <a:rPr kumimoji="0" lang="th-TH"/>
              <a:t>ระดับที่สอง</a:t>
            </a:r>
          </a:p>
          <a:p>
            <a:pPr lvl="2" eaLnBrk="1" latinLnBrk="0" hangingPunct="1"/>
            <a:r>
              <a:rPr kumimoji="0" lang="th-TH"/>
              <a:t>ระดับที่สาม</a:t>
            </a:r>
          </a:p>
          <a:p>
            <a:pPr lvl="3" eaLnBrk="1" latinLnBrk="0" hangingPunct="1"/>
            <a:r>
              <a:rPr kumimoji="0" lang="th-TH"/>
              <a:t>ระดับที่สี่</a:t>
            </a:r>
          </a:p>
          <a:p>
            <a:pPr lvl="4" eaLnBrk="1" latinLnBrk="0" hangingPunct="1"/>
            <a:r>
              <a:rPr kumimoji="0" lang="th-TH"/>
              <a:t>ระดับที่ห้า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0EAB0777-4C60-462E-A92C-CDAFD498799C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59DE6EB8-52AB-45EA-A660-3E1EBFA72987}" type="slidenum">
              <a:rPr lang="en-US" smtClean="0"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9" r:id="rId1"/>
    <p:sldLayoutId id="2147484010" r:id="rId2"/>
    <p:sldLayoutId id="2147484011" r:id="rId3"/>
    <p:sldLayoutId id="2147484012" r:id="rId4"/>
    <p:sldLayoutId id="2147484013" r:id="rId5"/>
    <p:sldLayoutId id="2147484014" r:id="rId6"/>
    <p:sldLayoutId id="2147484015" r:id="rId7"/>
    <p:sldLayoutId id="2147484016" r:id="rId8"/>
    <p:sldLayoutId id="2147484017" r:id="rId9"/>
    <p:sldLayoutId id="2147484018" r:id="rId10"/>
    <p:sldLayoutId id="2147484019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ชื่อเรื่อง 3"/>
          <p:cNvSpPr>
            <a:spLocks noGrp="1"/>
          </p:cNvSpPr>
          <p:nvPr>
            <p:ph type="ctrTitle"/>
          </p:nvPr>
        </p:nvSpPr>
        <p:spPr>
          <a:xfrm>
            <a:off x="554287" y="2636912"/>
            <a:ext cx="7851648" cy="2332856"/>
          </a:xfrm>
        </p:spPr>
        <p:txBody>
          <a:bodyPr>
            <a:noAutofit/>
          </a:bodyPr>
          <a:lstStyle/>
          <a:p>
            <a:pPr algn="ctr"/>
            <a:r>
              <a:rPr lang="en-US" sz="72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Role of nurse </a:t>
            </a:r>
            <a:br>
              <a:rPr lang="en-US" sz="72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</a:br>
            <a:r>
              <a:rPr lang="en-US" sz="72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for </a:t>
            </a:r>
            <a:br>
              <a:rPr lang="en-US" sz="72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</a:br>
            <a:r>
              <a:rPr lang="en-US" sz="72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rehabilitation in cardiovascular patients</a:t>
            </a:r>
            <a:endParaRPr lang="th-TH" sz="7200" dirty="0">
              <a:solidFill>
                <a:schemeClr val="bg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5" name="ชื่อเรื่องรอง 4"/>
          <p:cNvSpPr>
            <a:spLocks noGrp="1"/>
          </p:cNvSpPr>
          <p:nvPr>
            <p:ph type="subTitle" idx="1"/>
          </p:nvPr>
        </p:nvSpPr>
        <p:spPr>
          <a:xfrm>
            <a:off x="551239" y="4950296"/>
            <a:ext cx="7854696" cy="1752600"/>
          </a:xfrm>
        </p:spPr>
        <p:txBody>
          <a:bodyPr>
            <a:normAutofit/>
          </a:bodyPr>
          <a:lstStyle/>
          <a:p>
            <a:r>
              <a:rPr lang="th-TH" sz="3200" b="1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พว</a:t>
            </a:r>
            <a:r>
              <a:rPr lang="th-TH" sz="32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.เบญจมาส ธรรมวาระ</a:t>
            </a:r>
          </a:p>
          <a:p>
            <a:r>
              <a:rPr lang="th-TH" sz="32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หอผู้</a:t>
            </a:r>
            <a:r>
              <a:rPr lang="th-TH" sz="3200" b="1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ป่ว</a:t>
            </a:r>
            <a:r>
              <a:rPr lang="th-TH" sz="32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ยม</a:t>
            </a:r>
            <a:r>
              <a:rPr lang="th-TH" sz="3200" b="1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ัธ</a:t>
            </a:r>
            <a:r>
              <a:rPr lang="th-TH" sz="32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ยา</a:t>
            </a:r>
            <a:r>
              <a:rPr lang="th-TH" sz="3200" b="1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ภิ</a:t>
            </a:r>
            <a:r>
              <a:rPr lang="th-TH" sz="32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บาลโรคหัวใจ</a:t>
            </a:r>
          </a:p>
          <a:p>
            <a:r>
              <a:rPr lang="en-US" sz="32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ICCU Siriraj Hospital</a:t>
            </a:r>
            <a:endParaRPr lang="th-TH" sz="32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200950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0FBE3AA8-CFF2-4DDA-A03E-0F2D2BB5F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836712"/>
            <a:ext cx="7772400" cy="1362456"/>
          </a:xfrm>
        </p:spPr>
        <p:txBody>
          <a:bodyPr/>
          <a:lstStyle/>
          <a:p>
            <a:r>
              <a:rPr lang="th-TH" sz="54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การฟื้นฟูสมรรถภาพหัวใจ(</a:t>
            </a:r>
            <a:r>
              <a:rPr lang="en-US" sz="54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cardiac rehabilitation</a:t>
            </a:r>
            <a:endParaRPr lang="th-TH" sz="5400" dirty="0">
              <a:solidFill>
                <a:schemeClr val="bg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32E8C615-1712-437F-8316-F45A4C780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2199168"/>
            <a:ext cx="7918648" cy="4536504"/>
          </a:xfrm>
        </p:spPr>
        <p:txBody>
          <a:bodyPr>
            <a:normAutofit fontScale="85000" lnSpcReduction="10000"/>
          </a:bodyPr>
          <a:lstStyle/>
          <a:p>
            <a:r>
              <a:rPr lang="th-TH" sz="4400" b="1" u="sng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คำจำกัดความ</a:t>
            </a:r>
          </a:p>
          <a:p>
            <a:r>
              <a:rPr lang="th-TH" sz="32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       </a:t>
            </a:r>
            <a:r>
              <a:rPr lang="th-TH" sz="43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-กระบวนการทางเวชศาสตร์ฟื้นฟูแบบองค์รวมในการดูแลรักษาผู้ป่วยโรคหัวใจและหลอดเลือด โดยมีเป้าหมายให้ผู้ป่วยสามารถฟื้นฟูสภาพร่างกายจนสามารถทำกิจกรรมต่าง ๆได้ในระดับที่เหมาะสม กลับสู่สภาพที่ใกล้เคียงปกติ รวมถึงกระบวนการป้องกันโรคไม่ให้กลับมาเป็นซ้ำ โดยมีองค์ประกอบของการฟื้นฟูที่สำคัญสองส่วนคือ การให้การรักษาด้วยการออกกำลังกายและการปรับเปลี่ยนปัจจัยเสี่ยงต่าง ๆ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4220383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ชื่อเรื่อง 3"/>
          <p:cNvSpPr>
            <a:spLocks noGrp="1"/>
          </p:cNvSpPr>
          <p:nvPr>
            <p:ph type="ctrTitle"/>
          </p:nvPr>
        </p:nvSpPr>
        <p:spPr>
          <a:xfrm>
            <a:off x="646176" y="404664"/>
            <a:ext cx="7851648" cy="1008112"/>
          </a:xfrm>
        </p:spPr>
        <p:txBody>
          <a:bodyPr>
            <a:normAutofit/>
          </a:bodyPr>
          <a:lstStyle/>
          <a:p>
            <a:pPr algn="l"/>
            <a:r>
              <a:rPr lang="th-TH" sz="54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การเคลื่อนไหวร่างกาย</a:t>
            </a:r>
          </a:p>
        </p:txBody>
      </p:sp>
      <p:sp>
        <p:nvSpPr>
          <p:cNvPr id="5" name="ชื่อเรื่องรอง 4"/>
          <p:cNvSpPr>
            <a:spLocks noGrp="1"/>
          </p:cNvSpPr>
          <p:nvPr>
            <p:ph type="subTitle" idx="1"/>
          </p:nvPr>
        </p:nvSpPr>
        <p:spPr>
          <a:xfrm>
            <a:off x="528783" y="1412776"/>
            <a:ext cx="8147673" cy="5445224"/>
          </a:xfrm>
        </p:spPr>
        <p:txBody>
          <a:bodyPr>
            <a:noAutofit/>
          </a:bodyPr>
          <a:lstStyle/>
          <a:p>
            <a:pPr algn="l"/>
            <a:r>
              <a:rPr lang="th-TH" sz="4000" b="1" dirty="0">
                <a:solidFill>
                  <a:srgbClr val="0BD0D9">
                    <a:tint val="90000"/>
                    <a:satMod val="120000"/>
                  </a:srgb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Calibri"/>
                <a:ea typeface="+mj-ea"/>
                <a:cs typeface="Cordia New"/>
              </a:rPr>
              <a:t>     </a:t>
            </a:r>
            <a:r>
              <a:rPr lang="th-TH" sz="4000" b="1" dirty="0"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Calibri"/>
                <a:ea typeface="+mj-ea"/>
                <a:cs typeface="Cordia New"/>
              </a:rPr>
              <a:t>การเคลื่อนไหวร่างกาย   หรือการมีกิจกรรมทาง</a:t>
            </a:r>
          </a:p>
          <a:p>
            <a:pPr algn="l"/>
            <a:r>
              <a:rPr lang="th-TH" sz="4000" b="1" dirty="0"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Calibri"/>
                <a:ea typeface="+mj-ea"/>
                <a:cs typeface="Cordia New"/>
              </a:rPr>
              <a:t>กาย หมายถึง การเคลื่อนไหวมีกิจกรรมของกล้ามเนื้อ</a:t>
            </a:r>
            <a:r>
              <a:rPr lang="th-TH" sz="4000" b="1" dirty="0" err="1"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Calibri"/>
                <a:ea typeface="+mj-ea"/>
                <a:cs typeface="Cordia New"/>
              </a:rPr>
              <a:t>ต่างๆ</a:t>
            </a:r>
            <a:r>
              <a:rPr lang="th-TH" sz="4000" b="1" dirty="0"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Calibri"/>
                <a:ea typeface="+mj-ea"/>
                <a:cs typeface="Cordia New"/>
              </a:rPr>
              <a:t> ของร่างกายทำให้มีการใช้พลังงานเพิ่มขึ้นกว่าในขณะที่พัก</a:t>
            </a:r>
          </a:p>
          <a:p>
            <a:pPr algn="l"/>
            <a:r>
              <a:rPr lang="th-TH" sz="4000" b="1" dirty="0"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Calibri"/>
                <a:ea typeface="+mj-ea"/>
                <a:cs typeface="Cordia New"/>
              </a:rPr>
              <a:t>      การออกกำลังกาย หมายถึง รูปแบบหนึ่งของการเคลื่อนไหวของร่างกายซึ่งมีแบบแผนแน่นอน โดยมีการเคลื่อนไหวลักษณะเดิมซ้ำกันทำให้เกิดการเพิ่มสมรรถภาพร่างกาย</a:t>
            </a:r>
          </a:p>
          <a:p>
            <a:pPr algn="l"/>
            <a:endParaRPr lang="th-TH" sz="4000" dirty="0"/>
          </a:p>
        </p:txBody>
      </p:sp>
    </p:spTree>
    <p:extLst>
      <p:ext uri="{BB962C8B-B14F-4D97-AF65-F5344CB8AC3E}">
        <p14:creationId xmlns:p14="http://schemas.microsoft.com/office/powerpoint/2010/main" val="1680239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BC92598B-B298-41E2-8543-BE0E2BE115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2675" y="548680"/>
            <a:ext cx="7878650" cy="1296144"/>
          </a:xfrm>
        </p:spPr>
        <p:txBody>
          <a:bodyPr>
            <a:normAutofit/>
          </a:bodyPr>
          <a:lstStyle/>
          <a:p>
            <a:pPr algn="l"/>
            <a:r>
              <a:rPr lang="th-TH" sz="54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ประโยชน์ของการฟื้นฟูสมรรถภาพหัวใจ</a:t>
            </a:r>
          </a:p>
        </p:txBody>
      </p:sp>
      <p:sp>
        <p:nvSpPr>
          <p:cNvPr id="3" name="ชื่อเรื่องรอง 2">
            <a:extLst>
              <a:ext uri="{FF2B5EF4-FFF2-40B4-BE49-F238E27FC236}">
                <a16:creationId xmlns:a16="http://schemas.microsoft.com/office/drawing/2014/main" id="{5B48051F-12CB-43F6-9FDC-90D649899E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7584" y="1844824"/>
            <a:ext cx="7878650" cy="4608512"/>
          </a:xfrm>
        </p:spPr>
        <p:txBody>
          <a:bodyPr/>
          <a:lstStyle/>
          <a:p>
            <a:pPr algn="l"/>
            <a:r>
              <a:rPr lang="th-TH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1.ป้องกันการเกิดภาวะแทรกซ้อนจากการนอนบนเตียง</a:t>
            </a:r>
            <a:r>
              <a:rPr lang="th-TH" sz="4000" b="1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นานๆ</a:t>
            </a:r>
            <a:r>
              <a:rPr lang="th-TH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 ลดระยะเวลาและค่าใช้จ่ายในการรักษาพยาบาล</a:t>
            </a:r>
          </a:p>
          <a:p>
            <a:pPr algn="l"/>
            <a:r>
              <a:rPr lang="en-US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2</a:t>
            </a:r>
            <a:r>
              <a:rPr lang="th-TH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.หัวใจทำงานได้ดีขึ้น ลดการเกิดโรคซ้ำและลดความรุนแรงของโรค</a:t>
            </a:r>
          </a:p>
          <a:p>
            <a:pPr algn="l"/>
            <a:r>
              <a:rPr lang="th-TH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3.ผู้ป่วยสามารถช่วยเหลือตนเองได้ และดำรงชีวิตอยู่อย่างมีคุณค่าต่อตนเอง ครอบครัวและสังคม </a:t>
            </a:r>
          </a:p>
          <a:p>
            <a:pPr algn="l"/>
            <a:endParaRPr lang="th-TH" sz="40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l"/>
            <a:endParaRPr lang="th-TH" sz="40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l"/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6817700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167BD275-EEBD-4501-9847-A64A11276D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0009" y="2024971"/>
            <a:ext cx="7629472" cy="545232"/>
          </a:xfrm>
        </p:spPr>
        <p:txBody>
          <a:bodyPr>
            <a:noAutofit/>
          </a:bodyPr>
          <a:lstStyle/>
          <a:p>
            <a:pPr algn="l"/>
            <a:r>
              <a:rPr lang="th-TH" sz="54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องค์ประกอบของการฟื้นฟูสมรรถภาพหัวใจ</a:t>
            </a:r>
          </a:p>
        </p:txBody>
      </p:sp>
      <p:sp>
        <p:nvSpPr>
          <p:cNvPr id="3" name="ชื่อเรื่องรอง 2">
            <a:extLst>
              <a:ext uri="{FF2B5EF4-FFF2-40B4-BE49-F238E27FC236}">
                <a16:creationId xmlns:a16="http://schemas.microsoft.com/office/drawing/2014/main" id="{2D75C108-B2A3-4E4A-9929-4E41073BB2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009" y="2606080"/>
            <a:ext cx="7854696" cy="3384376"/>
          </a:xfrm>
        </p:spPr>
        <p:txBody>
          <a:bodyPr>
            <a:normAutofit/>
          </a:bodyPr>
          <a:lstStyle/>
          <a:p>
            <a:pPr algn="l"/>
            <a:r>
              <a:rPr lang="th-TH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1.โปรแกรมฝึกออกกำลังกายและกิจกรรมที่เหมาะสม</a:t>
            </a:r>
          </a:p>
          <a:p>
            <a:pPr algn="l"/>
            <a:r>
              <a:rPr lang="th-TH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2.โปรแกรมให้ความรู้ ปรับเปลี่ยนปัจจัยเสี่ยงของโรค</a:t>
            </a:r>
          </a:p>
          <a:p>
            <a:pPr algn="l"/>
            <a:r>
              <a:rPr lang="th-TH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3.การให้คำปรึกษา ส่งเสริมสุขภาพจิต การใช้ชีวิตในสังคม และการประกอบอาชีพ</a:t>
            </a:r>
          </a:p>
          <a:p>
            <a:endParaRPr lang="th-TH" sz="4000" dirty="0"/>
          </a:p>
        </p:txBody>
      </p:sp>
    </p:spTree>
    <p:extLst>
      <p:ext uri="{BB962C8B-B14F-4D97-AF65-F5344CB8AC3E}">
        <p14:creationId xmlns:p14="http://schemas.microsoft.com/office/powerpoint/2010/main" val="20052938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B7A923E2-540F-4492-921B-DBB4B92BA5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2179" y="476672"/>
            <a:ext cx="7413448" cy="1080120"/>
          </a:xfrm>
        </p:spPr>
        <p:txBody>
          <a:bodyPr>
            <a:noAutofit/>
          </a:bodyPr>
          <a:lstStyle/>
          <a:p>
            <a:pPr algn="l"/>
            <a:r>
              <a:rPr lang="th-TH" sz="50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การฟื้นฟูสมรรถภาพหัวใจแบ่งเป็น 4 ระยะ</a:t>
            </a:r>
          </a:p>
        </p:txBody>
      </p:sp>
      <p:sp>
        <p:nvSpPr>
          <p:cNvPr id="3" name="ชื่อเรื่องรอง 2">
            <a:extLst>
              <a:ext uri="{FF2B5EF4-FFF2-40B4-BE49-F238E27FC236}">
                <a16:creationId xmlns:a16="http://schemas.microsoft.com/office/drawing/2014/main" id="{ECC7CDF6-AEBE-4395-B548-CD2A0B27C9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2179" y="1522585"/>
            <a:ext cx="7854696" cy="4320479"/>
          </a:xfrm>
        </p:spPr>
        <p:txBody>
          <a:bodyPr>
            <a:noAutofit/>
          </a:bodyPr>
          <a:lstStyle/>
          <a:p>
            <a:pPr algn="l"/>
            <a:r>
              <a:rPr lang="en-US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1.</a:t>
            </a:r>
            <a:r>
              <a:rPr lang="th-TH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การฟื้นฟูสมรรถภาพหัวใจขณะผู้ป่วยอยู่ในโรงพยาบาล </a:t>
            </a:r>
          </a:p>
          <a:p>
            <a:pPr algn="l"/>
            <a:r>
              <a:rPr lang="th-TH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2.การฟื้นฟูสมรรถภาพหัวใจหลังผู้ป่วยออกจากโรงพยาบาล 3-6 สัปดาห์</a:t>
            </a:r>
          </a:p>
          <a:p>
            <a:pPr algn="l"/>
            <a:r>
              <a:rPr lang="th-TH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3.การฟื้นฟูสมรรถภาพหัวใจต่อเนื่องจากระยะที่ 2 มักนัดตรวจทุก 1-3 เดือน </a:t>
            </a:r>
            <a:endParaRPr lang="en-US" sz="40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l"/>
            <a:r>
              <a:rPr lang="en-US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4.Maintenance phase </a:t>
            </a:r>
            <a:r>
              <a:rPr lang="th-TH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นัดติดตามห่างขึ้น ประมาณทุก 6 เดือน-1 ปี เน้นการออกกำลังกายแบบแอโรบ</a:t>
            </a:r>
            <a:r>
              <a:rPr lang="th-TH" sz="4000" b="1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ิค</a:t>
            </a:r>
            <a:r>
              <a:rPr lang="th-TH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อย่างสม่ำเสมอ</a:t>
            </a:r>
          </a:p>
        </p:txBody>
      </p:sp>
    </p:spTree>
    <p:extLst>
      <p:ext uri="{BB962C8B-B14F-4D97-AF65-F5344CB8AC3E}">
        <p14:creationId xmlns:p14="http://schemas.microsoft.com/office/powerpoint/2010/main" val="359566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ชื่อเรื่อง 3"/>
          <p:cNvSpPr>
            <a:spLocks noGrp="1"/>
          </p:cNvSpPr>
          <p:nvPr>
            <p:ph type="ctrTitle"/>
          </p:nvPr>
        </p:nvSpPr>
        <p:spPr>
          <a:xfrm>
            <a:off x="488650" y="332656"/>
            <a:ext cx="7923656" cy="1208112"/>
          </a:xfrm>
        </p:spPr>
        <p:txBody>
          <a:bodyPr>
            <a:normAutofit fontScale="90000"/>
          </a:bodyPr>
          <a:lstStyle/>
          <a:p>
            <a:pPr algn="l">
              <a:spcAft>
                <a:spcPts val="0"/>
              </a:spcAft>
            </a:pPr>
            <a:r>
              <a:rPr lang="en-US" sz="6000" dirty="0">
                <a:effectLst/>
                <a:latin typeface="Angsana New"/>
                <a:ea typeface="Times New Roman"/>
                <a:cs typeface="EucrosiaUPC"/>
              </a:rPr>
              <a:t> </a:t>
            </a:r>
            <a:r>
              <a:rPr lang="th-TH" sz="6000" dirty="0">
                <a:solidFill>
                  <a:schemeClr val="bg1"/>
                </a:solidFill>
                <a:effectLst/>
                <a:latin typeface="Angsana New" panose="02020603050405020304" pitchFamily="18" charset="-34"/>
                <a:ea typeface="Times New Roman"/>
                <a:cs typeface="Angsana New" panose="02020603050405020304" pitchFamily="18" charset="-34"/>
              </a:rPr>
              <a:t>การพยาบาลการฟื้นฟูสมรรถภาพหัวใจ</a:t>
            </a:r>
            <a:endParaRPr lang="th-TH" sz="5400" dirty="0">
              <a:solidFill>
                <a:schemeClr val="bg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5" name="ชื่อเรื่องรอง 4"/>
          <p:cNvSpPr>
            <a:spLocks noGrp="1"/>
          </p:cNvSpPr>
          <p:nvPr>
            <p:ph type="subTitle" idx="1"/>
          </p:nvPr>
        </p:nvSpPr>
        <p:spPr>
          <a:xfrm>
            <a:off x="488650" y="1412776"/>
            <a:ext cx="7854696" cy="5112568"/>
          </a:xfrm>
        </p:spPr>
        <p:txBody>
          <a:bodyPr>
            <a:noAutofit/>
          </a:bodyPr>
          <a:lstStyle/>
          <a:p>
            <a:pPr algn="l"/>
            <a:r>
              <a:rPr lang="en-US" sz="4000" b="1" dirty="0">
                <a:latin typeface="Angsana New" panose="02020603050405020304" pitchFamily="18" charset="-34"/>
                <a:ea typeface="Times New Roman"/>
                <a:cs typeface="Angsana New" panose="02020603050405020304" pitchFamily="18" charset="-34"/>
              </a:rPr>
              <a:t>1.</a:t>
            </a:r>
            <a:r>
              <a:rPr lang="th-TH" sz="4000" b="1" dirty="0">
                <a:latin typeface="Angsana New" panose="02020603050405020304" pitchFamily="18" charset="-34"/>
                <a:ea typeface="Times New Roman"/>
                <a:cs typeface="Angsana New" panose="02020603050405020304" pitchFamily="18" charset="-34"/>
              </a:rPr>
              <a:t>ขณะอยู่ในโรงพยาบาล</a:t>
            </a:r>
            <a:endParaRPr lang="en-US" sz="4000" b="1" dirty="0">
              <a:latin typeface="Angsana New" panose="02020603050405020304" pitchFamily="18" charset="-34"/>
              <a:ea typeface="Times New Roman"/>
              <a:cs typeface="Angsana New" panose="02020603050405020304" pitchFamily="18" charset="-34"/>
            </a:endParaRPr>
          </a:p>
          <a:p>
            <a:pPr algn="l"/>
            <a:r>
              <a:rPr lang="en-US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   -Early ambulation</a:t>
            </a:r>
          </a:p>
          <a:p>
            <a:pPr algn="l"/>
            <a:r>
              <a:rPr lang="en-US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   -Program of ambulate</a:t>
            </a:r>
          </a:p>
          <a:p>
            <a:pPr algn="l"/>
            <a:r>
              <a:rPr lang="en-US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   -</a:t>
            </a:r>
            <a:r>
              <a:rPr lang="th-TH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โปรแกรมให้ความรู้ ปรับเปลี่ยนปัจจัยเสี่ยงของโรค</a:t>
            </a:r>
            <a:endParaRPr lang="en-US" sz="40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l"/>
            <a:r>
              <a:rPr lang="en-US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2.</a:t>
            </a:r>
            <a:r>
              <a:rPr lang="th-TH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หลังออกจากโรงพยาบาล</a:t>
            </a:r>
          </a:p>
          <a:p>
            <a:pPr algn="l"/>
            <a:r>
              <a:rPr lang="th-TH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   </a:t>
            </a:r>
            <a:r>
              <a:rPr lang="en-US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-</a:t>
            </a:r>
            <a:r>
              <a:rPr lang="th-TH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แนะนำกิจกรรมและการออกกำลังกายที่เหมาะสม</a:t>
            </a:r>
          </a:p>
          <a:p>
            <a:pPr algn="l"/>
            <a:r>
              <a:rPr lang="th-TH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   </a:t>
            </a:r>
            <a:r>
              <a:rPr lang="en-US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-</a:t>
            </a:r>
            <a:r>
              <a:rPr lang="th-TH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แนะนำการแก้ไขปัญหาที่อาจเกิดขึ้นขณะออกกำลังกาย</a:t>
            </a:r>
          </a:p>
        </p:txBody>
      </p:sp>
    </p:spTree>
    <p:extLst>
      <p:ext uri="{BB962C8B-B14F-4D97-AF65-F5344CB8AC3E}">
        <p14:creationId xmlns:p14="http://schemas.microsoft.com/office/powerpoint/2010/main" val="18725080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ชื่อเรื่อง 3"/>
          <p:cNvSpPr>
            <a:spLocks noGrp="1"/>
          </p:cNvSpPr>
          <p:nvPr>
            <p:ph type="ctrTitle"/>
          </p:nvPr>
        </p:nvSpPr>
        <p:spPr>
          <a:xfrm>
            <a:off x="511025" y="1412776"/>
            <a:ext cx="7851648" cy="1828800"/>
          </a:xfrm>
        </p:spPr>
        <p:txBody>
          <a:bodyPr>
            <a:noAutofit/>
          </a:bodyPr>
          <a:lstStyle/>
          <a:p>
            <a:pPr algn="l"/>
            <a:r>
              <a:rPr lang="th-TH" sz="54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จุดประสงค์การฟื้นฟูสมรรถภาพหัวใจขณะผู้ป่วยอยู่ในโรงพยาบาล </a:t>
            </a:r>
            <a:br>
              <a:rPr lang="th-TH" sz="5400" dirty="0">
                <a:latin typeface="Angsana New" panose="02020603050405020304" pitchFamily="18" charset="-34"/>
                <a:cs typeface="Angsana New" panose="02020603050405020304" pitchFamily="18" charset="-34"/>
              </a:rPr>
            </a:br>
            <a:endParaRPr lang="th-TH" sz="5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5" name="ชื่อเรื่องรอง 4"/>
          <p:cNvSpPr>
            <a:spLocks noGrp="1"/>
          </p:cNvSpPr>
          <p:nvPr>
            <p:ph type="subTitle" idx="1"/>
          </p:nvPr>
        </p:nvSpPr>
        <p:spPr>
          <a:xfrm>
            <a:off x="511025" y="2526542"/>
            <a:ext cx="8064896" cy="4349079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th-TH" sz="16000" dirty="0">
                <a:latin typeface="Angsana New" panose="02020603050405020304" pitchFamily="18" charset="-34"/>
                <a:cs typeface="Angsana New" panose="02020603050405020304" pitchFamily="18" charset="-34"/>
              </a:rPr>
              <a:t>     </a:t>
            </a:r>
            <a:r>
              <a:rPr lang="th-TH" sz="16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เป็นการออกกำลังหรือทำกิจกรรมทางกายเพื่อให้ผู้ป่วยมี</a:t>
            </a:r>
          </a:p>
          <a:p>
            <a:pPr algn="l"/>
            <a:r>
              <a:rPr lang="th-TH" sz="16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ความมั่นใจใน</a:t>
            </a:r>
            <a:r>
              <a:rPr lang="th-TH" sz="16000" b="1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การทำ</a:t>
            </a:r>
            <a:r>
              <a:rPr lang="th-TH" sz="16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กิจกรรมและป้องกันภาวะถดถอย ชนิด</a:t>
            </a:r>
          </a:p>
          <a:p>
            <a:pPr algn="l"/>
            <a:r>
              <a:rPr lang="th-TH" sz="16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ของการออกกำลังกายในระยะนี้เพื่อคงไว้ซึ่งช่วงการเคลื่อนไหวของข้อและการเดิน ส่วน</a:t>
            </a:r>
            <a:r>
              <a:rPr lang="th-TH" sz="16000" b="1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การทำ</a:t>
            </a:r>
            <a:r>
              <a:rPr lang="th-TH" sz="16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กิจกรรมเน้นเรื่องทำกิจวัตรประจำวัน  ช่วยให้ผู้ป่วยสามารถช่วยเหลือตนเองได้อย่างปลอดภัย</a:t>
            </a:r>
          </a:p>
          <a:p>
            <a:pPr algn="l"/>
            <a:r>
              <a:rPr lang="th-TH" sz="192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</a:p>
          <a:p>
            <a:pPr algn="l"/>
            <a:br>
              <a:rPr lang="th-TH" sz="16000" dirty="0">
                <a:latin typeface="Cordia New" pitchFamily="34" charset="-34"/>
                <a:cs typeface="Cordia New" pitchFamily="34" charset="-34"/>
              </a:rPr>
            </a:br>
            <a:endParaRPr lang="th-TH" sz="16000" dirty="0">
              <a:latin typeface="Cordia New" pitchFamily="34" charset="-34"/>
              <a:cs typeface="Cordia New" pitchFamily="34" charset="-34"/>
            </a:endParaRPr>
          </a:p>
          <a:p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270472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4BB0CA9C-A596-475D-B8EF-24CE3AFC60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6176" y="-243408"/>
            <a:ext cx="7851648" cy="1828800"/>
          </a:xfrm>
        </p:spPr>
        <p:txBody>
          <a:bodyPr>
            <a:normAutofit/>
          </a:bodyPr>
          <a:lstStyle/>
          <a:p>
            <a:pPr algn="l"/>
            <a:r>
              <a:rPr lang="th-TH" sz="54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ผลเสียจากการนอนต่อเนื่องเป็นเวลานาน </a:t>
            </a:r>
          </a:p>
        </p:txBody>
      </p:sp>
      <p:sp>
        <p:nvSpPr>
          <p:cNvPr id="3" name="ชื่อเรื่องรอง 2">
            <a:extLst>
              <a:ext uri="{FF2B5EF4-FFF2-40B4-BE49-F238E27FC236}">
                <a16:creationId xmlns:a16="http://schemas.microsoft.com/office/drawing/2014/main" id="{9048848A-563D-486C-9CB5-1ED13C8708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7692" y="1844824"/>
            <a:ext cx="7854696" cy="4421153"/>
          </a:xfrm>
        </p:spPr>
        <p:txBody>
          <a:bodyPr>
            <a:noAutofit/>
          </a:bodyPr>
          <a:lstStyle/>
          <a:p>
            <a:pPr algn="l"/>
            <a:r>
              <a:rPr lang="en-US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1.</a:t>
            </a:r>
            <a:r>
              <a:rPr lang="th-TH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ผลกระทบต่อระบบหัวใจและหลอดเลือด</a:t>
            </a:r>
          </a:p>
          <a:p>
            <a:pPr algn="l"/>
            <a:r>
              <a:rPr lang="en-US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2.</a:t>
            </a:r>
            <a:r>
              <a:rPr lang="th-TH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ผลกระทบต่อระบบกล้ามเนื้อ กระดูกและข้อ</a:t>
            </a:r>
          </a:p>
          <a:p>
            <a:pPr algn="l"/>
            <a:r>
              <a:rPr lang="en-US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3.</a:t>
            </a:r>
            <a:r>
              <a:rPr lang="th-TH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ผลกระทบต่อระบบทางเดินหายใจ</a:t>
            </a:r>
          </a:p>
          <a:p>
            <a:pPr algn="l"/>
            <a:r>
              <a:rPr lang="en-US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4.</a:t>
            </a:r>
            <a:r>
              <a:rPr lang="th-TH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ผลกระทบต่อระบบทางเดินอาหาร</a:t>
            </a:r>
          </a:p>
          <a:p>
            <a:pPr algn="l"/>
            <a:r>
              <a:rPr lang="en-US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5.</a:t>
            </a:r>
            <a:r>
              <a:rPr lang="th-TH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ใผลกระทบต่อระบบสมอง</a:t>
            </a:r>
          </a:p>
        </p:txBody>
      </p:sp>
    </p:spTree>
    <p:extLst>
      <p:ext uri="{BB962C8B-B14F-4D97-AF65-F5344CB8AC3E}">
        <p14:creationId xmlns:p14="http://schemas.microsoft.com/office/powerpoint/2010/main" val="40115033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ชื่อเรื่อง 3"/>
          <p:cNvSpPr>
            <a:spLocks noGrp="1"/>
          </p:cNvSpPr>
          <p:nvPr>
            <p:ph type="ctrTitle"/>
          </p:nvPr>
        </p:nvSpPr>
        <p:spPr>
          <a:xfrm>
            <a:off x="732530" y="1124744"/>
            <a:ext cx="7632192" cy="886617"/>
          </a:xfrm>
        </p:spPr>
        <p:txBody>
          <a:bodyPr>
            <a:noAutofit/>
          </a:bodyPr>
          <a:lstStyle/>
          <a:p>
            <a:pPr algn="l"/>
            <a:r>
              <a:rPr lang="th-TH" sz="4000" dirty="0">
                <a:solidFill>
                  <a:schemeClr val="bg1"/>
                </a:solidFill>
              </a:rPr>
              <a:t>หลักการฟื้นฟูสมรรถภาพหัวใจผู้ป่วยกล้ามเนื้อหัวใจขาดเลือดเฉียบพลันระยะผู้ป่วยใน</a:t>
            </a:r>
          </a:p>
        </p:txBody>
      </p:sp>
      <p:sp>
        <p:nvSpPr>
          <p:cNvPr id="5" name="ชื่อเรื่องรอง 4"/>
          <p:cNvSpPr>
            <a:spLocks noGrp="1"/>
          </p:cNvSpPr>
          <p:nvPr>
            <p:ph type="subTitle" idx="1"/>
          </p:nvPr>
        </p:nvSpPr>
        <p:spPr>
          <a:xfrm>
            <a:off x="539552" y="2204864"/>
            <a:ext cx="7848544" cy="4172490"/>
          </a:xfrm>
        </p:spPr>
        <p:txBody>
          <a:bodyPr>
            <a:normAutofit/>
          </a:bodyPr>
          <a:lstStyle/>
          <a:p>
            <a:pPr algn="l"/>
            <a:r>
              <a:rPr lang="th-TH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     เนื่องจากภายหลังการเกิดกล้ามเนื้อหัวใจขาดเลือด    กล้ามเนื้อหัวใจบางส่วนที่ตายจะมีการเปลี่ยนแปลง การทำหน้าที่หดรัดตัวหรือคลายตัวเพื่อสูบฉีดเลือดและรับเลือดของกล้ามเนื้อไม่ดีเท่าเดิม  ดังนั้นการทำกิจกรรมต่างๆ จึงต้องค่อยๆ เพิ่มการออกแรงขึ้น  เพื่อไม่ให้เกินความสามารถการทำงานของหัวใจ</a:t>
            </a:r>
          </a:p>
        </p:txBody>
      </p:sp>
    </p:spTree>
    <p:extLst>
      <p:ext uri="{BB962C8B-B14F-4D97-AF65-F5344CB8AC3E}">
        <p14:creationId xmlns:p14="http://schemas.microsoft.com/office/powerpoint/2010/main" val="27771648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97315AC6-F728-4B38-A7B9-0D4185F78F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352" y="476672"/>
            <a:ext cx="7851648" cy="1108720"/>
          </a:xfrm>
        </p:spPr>
        <p:txBody>
          <a:bodyPr>
            <a:normAutofit/>
          </a:bodyPr>
          <a:lstStyle/>
          <a:p>
            <a:pPr algn="l"/>
            <a:r>
              <a:rPr lang="th-TH" sz="50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อาการผิดปกติจากการออกแรงที่ไม่เหมาะสม</a:t>
            </a:r>
          </a:p>
        </p:txBody>
      </p:sp>
      <p:sp>
        <p:nvSpPr>
          <p:cNvPr id="3" name="ชื่อเรื่องรอง 2">
            <a:extLst>
              <a:ext uri="{FF2B5EF4-FFF2-40B4-BE49-F238E27FC236}">
                <a16:creationId xmlns:a16="http://schemas.microsoft.com/office/drawing/2014/main" id="{B417CDA7-1AEE-45B2-9FDE-5C26D58487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3528" y="1772816"/>
            <a:ext cx="7854696" cy="4896544"/>
          </a:xfrm>
        </p:spPr>
        <p:txBody>
          <a:bodyPr>
            <a:normAutofit/>
          </a:bodyPr>
          <a:lstStyle/>
          <a:p>
            <a:pPr algn="l"/>
            <a:r>
              <a:rPr lang="th-TH" sz="4300" dirty="0">
                <a:latin typeface="Angsana New" panose="02020603050405020304" pitchFamily="18" charset="-34"/>
                <a:cs typeface="Angsana New" panose="02020603050405020304" pitchFamily="18" charset="-34"/>
              </a:rPr>
              <a:t>           </a:t>
            </a:r>
            <a:r>
              <a:rPr lang="th-TH" sz="43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อาการผิดปกติขณะทำกิจกรรมหรือออกกำลังกายเกิดจาก </a:t>
            </a:r>
            <a:r>
              <a:rPr lang="en-US" sz="43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cardiac insufficiency </a:t>
            </a:r>
            <a:r>
              <a:rPr lang="th-TH" sz="43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หรือ </a:t>
            </a:r>
            <a:r>
              <a:rPr lang="en-US" sz="43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exertional intolerance </a:t>
            </a:r>
            <a:r>
              <a:rPr lang="th-TH" sz="43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หมายถึง ภาวะกล้ามเนื้อหัวใจต้องการพลังงานมากเกินกว่าระดับพลังงานสูงสุดที่ได้รับในขณะนั้น ซึ่งจะต้องเฝ้าระวังอย่างใกล้ชิด</a:t>
            </a:r>
            <a:r>
              <a:rPr lang="en-US" sz="43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th-TH" sz="43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ถ้าปล่อยให้ดำเนินต่อไปอาจเกิดหัวใจล้มเหลวได้ เมื่อเกิดอาการผิดปกติขึ้นผู้ป่วยต้องหยุดออกกำลังกายทันที</a:t>
            </a:r>
          </a:p>
          <a:p>
            <a:pPr algn="l"/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3850652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448543F-3C3E-44AD-8A33-54D94033B3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6176" y="836712"/>
            <a:ext cx="7851648" cy="1828800"/>
          </a:xfrm>
        </p:spPr>
        <p:txBody>
          <a:bodyPr>
            <a:normAutofit/>
          </a:bodyPr>
          <a:lstStyle/>
          <a:p>
            <a:pPr algn="l"/>
            <a:r>
              <a:rPr lang="en-US" sz="54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cardiac insufficiency </a:t>
            </a:r>
            <a:r>
              <a:rPr lang="th-TH" sz="54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หรือ </a:t>
            </a:r>
            <a:r>
              <a:rPr lang="en-US" sz="54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exertional intolerance </a:t>
            </a:r>
            <a:r>
              <a:rPr lang="th-TH" sz="54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แบ่งเป็น 2 สาเหตุ </a:t>
            </a:r>
          </a:p>
        </p:txBody>
      </p:sp>
      <p:sp>
        <p:nvSpPr>
          <p:cNvPr id="3" name="ชื่อเรื่องรอง 2">
            <a:extLst>
              <a:ext uri="{FF2B5EF4-FFF2-40B4-BE49-F238E27FC236}">
                <a16:creationId xmlns:a16="http://schemas.microsoft.com/office/drawing/2014/main" id="{C9DDB4CB-DF72-47B2-8625-8F4645074C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6176" y="2852936"/>
            <a:ext cx="7851648" cy="3368816"/>
          </a:xfrm>
        </p:spPr>
        <p:txBody>
          <a:bodyPr>
            <a:normAutofit/>
          </a:bodyPr>
          <a:lstStyle/>
          <a:p>
            <a:pPr algn="l"/>
            <a:r>
              <a:rPr lang="th-TH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1.เกี่ยวกับหัวใจ ได้แก่ </a:t>
            </a:r>
            <a:r>
              <a:rPr lang="en-US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arrhythmia, volume overload, pericarditis </a:t>
            </a:r>
            <a:r>
              <a:rPr lang="th-TH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เป็นต้น </a:t>
            </a:r>
          </a:p>
          <a:p>
            <a:pPr algn="l"/>
            <a:r>
              <a:rPr lang="th-TH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2.ไม่เกี่ยวกับหัวใจได้แก่ </a:t>
            </a:r>
            <a:r>
              <a:rPr lang="en-US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anemia, hypoglycemia ,hyperglycemia, infection, sepsis </a:t>
            </a:r>
            <a:r>
              <a:rPr lang="th-TH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เป็นต้น</a:t>
            </a:r>
          </a:p>
          <a:p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5477120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ชื่อเรื่อง 3"/>
          <p:cNvSpPr>
            <a:spLocks noGrp="1"/>
          </p:cNvSpPr>
          <p:nvPr>
            <p:ph type="ctrTitle"/>
          </p:nvPr>
        </p:nvSpPr>
        <p:spPr>
          <a:xfrm>
            <a:off x="251520" y="12758"/>
            <a:ext cx="8892480" cy="1828800"/>
          </a:xfrm>
        </p:spPr>
        <p:txBody>
          <a:bodyPr>
            <a:normAutofit/>
          </a:bodyPr>
          <a:lstStyle/>
          <a:p>
            <a:pPr algn="l"/>
            <a:r>
              <a:rPr lang="th-TH" sz="50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หลักการสำคัญของการทำการฟื้นฟูสมรรถภาพหัวใจ</a:t>
            </a:r>
          </a:p>
        </p:txBody>
      </p:sp>
      <p:sp>
        <p:nvSpPr>
          <p:cNvPr id="5" name="ชื่อเรื่องรอง 4"/>
          <p:cNvSpPr>
            <a:spLocks noGrp="1"/>
          </p:cNvSpPr>
          <p:nvPr>
            <p:ph type="subTitle" idx="1"/>
          </p:nvPr>
        </p:nvSpPr>
        <p:spPr>
          <a:xfrm>
            <a:off x="611724" y="2060848"/>
            <a:ext cx="7920552" cy="4784394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th-TH" sz="34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     </a:t>
            </a:r>
            <a:r>
              <a:rPr lang="th-TH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ผู้ป่วยจะได้รับการฟื้นฟูสมรรถภาพหัวใจตามแบบแผนการฟื้นฟูสมรรถภาพผู้ป่วยกล้ามเนื้อหัวใจตายตามขั้นตอน โดยจะเป็นการค่อยๆเพิ่มการ</a:t>
            </a:r>
            <a:r>
              <a:rPr lang="th-TH" sz="4000" b="1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ใชัพ</a:t>
            </a:r>
            <a:r>
              <a:rPr lang="th-TH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ลังงานขึ้นในแต่ละระดับ และผู้ป่วยที่จะกลับบ้านได้นั้นควรมีระดับความสามารถในการออกกำลังได้ระหว่าง </a:t>
            </a:r>
            <a:r>
              <a:rPr lang="en-US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3.5-4 MET</a:t>
            </a:r>
            <a:r>
              <a:rPr lang="th-TH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 ซึ่งประกอบไปด้วย</a:t>
            </a:r>
          </a:p>
          <a:p>
            <a:pPr algn="l"/>
            <a:r>
              <a:rPr lang="en-US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-</a:t>
            </a:r>
            <a:r>
              <a:rPr lang="th-TH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การทำกิจกรรมที่เป็นกิจวัตรประจำวัน</a:t>
            </a:r>
          </a:p>
          <a:p>
            <a:pPr algn="l"/>
            <a:r>
              <a:rPr lang="en-US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-</a:t>
            </a:r>
            <a:r>
              <a:rPr lang="th-TH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การออกกำลังกาย</a:t>
            </a:r>
          </a:p>
          <a:p>
            <a:pPr algn="l"/>
            <a:r>
              <a:rPr lang="en-US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-</a:t>
            </a:r>
            <a:r>
              <a:rPr lang="th-TH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การให้ความรู้และคำแนะนำเกี่ยวกับโรคและการปฏิบัติตัว</a:t>
            </a:r>
          </a:p>
          <a:p>
            <a:pPr algn="l"/>
            <a:endParaRPr lang="th-TH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19010754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82874DB5-9134-4AE3-8D0B-C71E3ACC36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0026" y="0"/>
            <a:ext cx="7851648" cy="1828800"/>
          </a:xfrm>
        </p:spPr>
        <p:txBody>
          <a:bodyPr>
            <a:normAutofit/>
          </a:bodyPr>
          <a:lstStyle/>
          <a:p>
            <a:r>
              <a:rPr lang="th-TH" sz="54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การกำหนดพลังงานที่ใช้ใน</a:t>
            </a:r>
            <a:r>
              <a:rPr lang="th-TH" sz="5400" dirty="0" err="1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การทำ</a:t>
            </a:r>
            <a:r>
              <a:rPr lang="th-TH" sz="54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กิจกรรม</a:t>
            </a:r>
          </a:p>
        </p:txBody>
      </p:sp>
      <p:sp>
        <p:nvSpPr>
          <p:cNvPr id="3" name="ชื่อเรื่องรอง 2">
            <a:extLst>
              <a:ext uri="{FF2B5EF4-FFF2-40B4-BE49-F238E27FC236}">
                <a16:creationId xmlns:a16="http://schemas.microsoft.com/office/drawing/2014/main" id="{CF556221-859C-45FC-8C2A-7CFF1D8ECC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4652" y="1915550"/>
            <a:ext cx="7854696" cy="4393769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MET(Metabolic equivalents)=</a:t>
            </a:r>
            <a:r>
              <a:rPr lang="th-TH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ระดับการใช้ออกซิเจนขณะพัก</a:t>
            </a:r>
          </a:p>
          <a:p>
            <a:pPr algn="l"/>
            <a:r>
              <a:rPr lang="th-TH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      การกำหนดในการใช้พลังงานของร่างกายที่เพิ่มขึ้นจึงนิยมเปรียบเทียบหน่วยเป็น</a:t>
            </a:r>
            <a:r>
              <a:rPr lang="en-US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MET </a:t>
            </a:r>
            <a:r>
              <a:rPr lang="th-TH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โดยนำไปใช้เปรียบเทียบกับลักษณะกิจกรรม</a:t>
            </a:r>
            <a:r>
              <a:rPr lang="th-TH" sz="4000" b="1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ต่างๆ</a:t>
            </a:r>
            <a:r>
              <a:rPr lang="th-TH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    ซึ่งเป็นประโยชน์ในการใช้กำหนดกิจกรรม</a:t>
            </a:r>
            <a:r>
              <a:rPr lang="th-TH" sz="4000" b="1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ต่างๆ</a:t>
            </a:r>
            <a:r>
              <a:rPr lang="th-TH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ให้เหมาะสมกับขั้นสามารถในการทำงานของหัวใจของผู้ป่วย</a:t>
            </a:r>
          </a:p>
          <a:p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8766673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39C04283-556A-497B-A210-E528F3D33F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7584" y="332656"/>
            <a:ext cx="7851648" cy="1828800"/>
          </a:xfrm>
        </p:spPr>
        <p:txBody>
          <a:bodyPr>
            <a:normAutofit/>
          </a:bodyPr>
          <a:lstStyle/>
          <a:p>
            <a:pPr algn="l"/>
            <a:r>
              <a:rPr lang="th-TH" sz="40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ค่าการเผาผลาญพลังงานของกิจกรรมทางกายในกิจวัตรประจำวันเปรียบเทียบค่าต่ำสุด-ค่าสูงสุด (</a:t>
            </a:r>
            <a:r>
              <a:rPr lang="en-US" sz="40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MET</a:t>
            </a:r>
            <a:r>
              <a:rPr lang="th-TH" sz="40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)</a:t>
            </a:r>
          </a:p>
        </p:txBody>
      </p:sp>
      <p:sp>
        <p:nvSpPr>
          <p:cNvPr id="3" name="ชื่อเรื่องรอง 2">
            <a:extLst>
              <a:ext uri="{FF2B5EF4-FFF2-40B4-BE49-F238E27FC236}">
                <a16:creationId xmlns:a16="http://schemas.microsoft.com/office/drawing/2014/main" id="{CA0D2ABE-6AB5-426D-BA5D-936D716E66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4252" y="2475076"/>
            <a:ext cx="8318312" cy="4050268"/>
          </a:xfrm>
        </p:spPr>
        <p:txBody>
          <a:bodyPr>
            <a:noAutofit/>
          </a:bodyPr>
          <a:lstStyle/>
          <a:p>
            <a:pPr algn="l"/>
            <a:r>
              <a:rPr lang="en-US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-</a:t>
            </a:r>
            <a:r>
              <a:rPr lang="th-TH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นอนราบ,นั่งพิงนิ่งๆ </a:t>
            </a:r>
            <a:r>
              <a:rPr lang="en-US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 1-1.2              -</a:t>
            </a:r>
            <a:r>
              <a:rPr lang="th-TH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ถ่ายอุจจาระในห้องน้ำ = 3.5-4</a:t>
            </a:r>
            <a:endParaRPr lang="en-US" sz="36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l"/>
            <a:r>
              <a:rPr lang="en-US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-</a:t>
            </a:r>
            <a:r>
              <a:rPr lang="th-TH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นั่งรับประทานอาหาร </a:t>
            </a:r>
            <a:r>
              <a:rPr lang="en-US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= 1-2            -</a:t>
            </a:r>
            <a:r>
              <a:rPr lang="th-TH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อาบน้ำ(ฝักบัว) = 3-4</a:t>
            </a:r>
            <a:endParaRPr lang="en-US" sz="36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l"/>
            <a:r>
              <a:rPr lang="en-US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-</a:t>
            </a:r>
            <a:r>
              <a:rPr lang="th-TH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นั่งฟังเพลงในเก้าอี้สบายๆ </a:t>
            </a:r>
            <a:r>
              <a:rPr lang="en-US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= 1-2     -</a:t>
            </a:r>
            <a:r>
              <a:rPr lang="th-TH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มีเพศสัมพันธ์ = 3-5</a:t>
            </a:r>
          </a:p>
          <a:p>
            <a:pPr algn="l"/>
            <a:r>
              <a:rPr lang="en-US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-</a:t>
            </a:r>
            <a:r>
              <a:rPr lang="th-TH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แต่งตัว </a:t>
            </a:r>
            <a:r>
              <a:rPr lang="en-US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= 2-3                                    </a:t>
            </a:r>
            <a:r>
              <a:rPr lang="th-TH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-เดินขึ้นบันได = 5-7</a:t>
            </a:r>
            <a:endParaRPr lang="en-US" sz="36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l"/>
            <a:endParaRPr lang="en-US" sz="3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6737351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ชื่อเรื่อง 3"/>
          <p:cNvSpPr>
            <a:spLocks noGrp="1"/>
          </p:cNvSpPr>
          <p:nvPr>
            <p:ph type="ctrTitle"/>
          </p:nvPr>
        </p:nvSpPr>
        <p:spPr>
          <a:xfrm>
            <a:off x="718348" y="1484784"/>
            <a:ext cx="7851648" cy="1224136"/>
          </a:xfrm>
        </p:spPr>
        <p:txBody>
          <a:bodyPr>
            <a:noAutofit/>
          </a:bodyPr>
          <a:lstStyle/>
          <a:p>
            <a:pPr algn="l"/>
            <a:r>
              <a:rPr lang="th-TH" sz="54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ขั้นตอนการฟื้นฟูสมรรถภาพหัวใจระยะผู้ป่วยใน</a:t>
            </a:r>
          </a:p>
        </p:txBody>
      </p:sp>
      <p:sp>
        <p:nvSpPr>
          <p:cNvPr id="5" name="ชื่อเรื่องรอง 4"/>
          <p:cNvSpPr>
            <a:spLocks noGrp="1"/>
          </p:cNvSpPr>
          <p:nvPr>
            <p:ph type="subTitle" idx="1"/>
          </p:nvPr>
        </p:nvSpPr>
        <p:spPr>
          <a:xfrm>
            <a:off x="574004" y="2708920"/>
            <a:ext cx="8254816" cy="3794321"/>
          </a:xfrm>
        </p:spPr>
        <p:txBody>
          <a:bodyPr>
            <a:noAutofit/>
          </a:bodyPr>
          <a:lstStyle/>
          <a:p>
            <a:pPr algn="l"/>
            <a:r>
              <a:rPr lang="en-US" sz="34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1.</a:t>
            </a:r>
            <a:r>
              <a:rPr lang="th-TH" sz="34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 ประเมินอาการผู้ป่วยก่อน ขณะทำ และหลังให้การฟื้นฟูสมรรถภาพหัวใจ</a:t>
            </a:r>
            <a:endParaRPr lang="en-US" sz="34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l"/>
            <a:r>
              <a:rPr lang="en-US" sz="34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2.</a:t>
            </a:r>
            <a:r>
              <a:rPr lang="th-TH" sz="34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 เริ่มให้การฟื้นฟูสมรรถภาพหัวใจตามโปรแกรมที่กำหนด  โดยเริ่มจากการใช้ระดับพลังงานน้อยไปมาก </a:t>
            </a:r>
          </a:p>
          <a:p>
            <a:pPr algn="l"/>
            <a:r>
              <a:rPr lang="en-US" sz="34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3.</a:t>
            </a:r>
            <a:r>
              <a:rPr lang="th-TH" sz="34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 ขณะให้การฟื้นฟูสมรรถภาพหัวใจติดตามคลื่นไฟฟ้าหัวใจตลอดเวลา </a:t>
            </a:r>
            <a:endParaRPr lang="en-US" sz="34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l"/>
            <a:r>
              <a:rPr lang="th-TH" sz="34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มีเจ้าหน้าที่ดูแลอย่างใกล้ชิด และแนะนำผู้ป่วยให้แจ้งเมื่อมีอาการผิดปกติ</a:t>
            </a:r>
          </a:p>
          <a:p>
            <a:pPr algn="l"/>
            <a:r>
              <a:rPr lang="th-TH" sz="2400" b="1" dirty="0">
                <a:latin typeface="Cordia New" pitchFamily="34" charset="-34"/>
              </a:rPr>
              <a:t> </a:t>
            </a:r>
          </a:p>
          <a:p>
            <a:pPr algn="l"/>
            <a:endParaRPr lang="th-TH" sz="2400" b="1" dirty="0">
              <a:latin typeface="Cordia New" pitchFamily="34" charset="-34"/>
            </a:endParaRPr>
          </a:p>
          <a:p>
            <a:pPr algn="l"/>
            <a:endParaRPr lang="th-TH" sz="2400" b="1" dirty="0">
              <a:latin typeface="Cordia New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3999792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36C1EADC-B729-4179-AAE3-9510A15829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8606" y="836712"/>
            <a:ext cx="7851648" cy="1828800"/>
          </a:xfrm>
        </p:spPr>
        <p:txBody>
          <a:bodyPr>
            <a:normAutofit/>
          </a:bodyPr>
          <a:lstStyle/>
          <a:p>
            <a:pPr algn="l"/>
            <a:r>
              <a:rPr lang="th-TH" sz="54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ขั้นตอนการฟื้นฟูสมรรถภาพหัวใจระยะผู้ป่วยใน</a:t>
            </a:r>
          </a:p>
        </p:txBody>
      </p:sp>
      <p:sp>
        <p:nvSpPr>
          <p:cNvPr id="3" name="ชื่อเรื่องรอง 2">
            <a:extLst>
              <a:ext uri="{FF2B5EF4-FFF2-40B4-BE49-F238E27FC236}">
                <a16:creationId xmlns:a16="http://schemas.microsoft.com/office/drawing/2014/main" id="{FA92568B-58A4-4E5C-8AA7-178D4E5CE5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4652" y="2659687"/>
            <a:ext cx="7854696" cy="385983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th-TH" sz="39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4.หยุดการฟื้นฟูสมรรถภาพหัวใจเมื่อมีอาการผิดปกติตามข้อบ่งชี้ที่กำหนดและให้การช่วยเหลือ</a:t>
            </a:r>
          </a:p>
          <a:p>
            <a:pPr algn="l"/>
            <a:r>
              <a:rPr lang="en-US" sz="39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5.</a:t>
            </a:r>
            <a:r>
              <a:rPr lang="th-TH" sz="39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 บันทึกลงในแบบบันทึกการพยาบาลและส่งต่อข้อมูลกับผู้ดูแลต่อไป</a:t>
            </a:r>
          </a:p>
          <a:p>
            <a:pPr algn="l"/>
            <a:r>
              <a:rPr lang="th-TH" sz="39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6.การเตรียมความพร้อมก่อนการจำหน่าย</a:t>
            </a:r>
          </a:p>
          <a:p>
            <a:pPr algn="l"/>
            <a:r>
              <a:rPr lang="th-TH" sz="39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หมายเหตุ ต้องเตรียมอุปกรณ์ในการช่วยฟื้นคืนชีพ(</a:t>
            </a:r>
            <a:r>
              <a:rPr lang="en-US" sz="39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Resuscitation) </a:t>
            </a:r>
            <a:r>
              <a:rPr lang="th-TH" sz="39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และเครื่อง </a:t>
            </a:r>
            <a:r>
              <a:rPr lang="en-US" sz="39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Defibrillation </a:t>
            </a:r>
            <a:r>
              <a:rPr lang="th-TH" sz="39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ไว้ให้พร้อม</a:t>
            </a:r>
          </a:p>
          <a:p>
            <a:pPr algn="l"/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3317250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ชื่อเรื่อง 3"/>
          <p:cNvSpPr>
            <a:spLocks noGrp="1"/>
          </p:cNvSpPr>
          <p:nvPr>
            <p:ph type="ctrTitle"/>
          </p:nvPr>
        </p:nvSpPr>
        <p:spPr>
          <a:xfrm>
            <a:off x="577806" y="430317"/>
            <a:ext cx="7845496" cy="995536"/>
          </a:xfrm>
        </p:spPr>
        <p:txBody>
          <a:bodyPr>
            <a:normAutofit/>
          </a:bodyPr>
          <a:lstStyle/>
          <a:p>
            <a:pPr algn="l"/>
            <a:r>
              <a:rPr lang="th-TH" sz="54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ข้อบ่งชี้ก่อนทำการฟื้นฟูสมรรถภาพหัวใจ</a:t>
            </a:r>
          </a:p>
        </p:txBody>
      </p:sp>
      <p:sp>
        <p:nvSpPr>
          <p:cNvPr id="5" name="ชื่อเรื่องรอง 4"/>
          <p:cNvSpPr>
            <a:spLocks noGrp="1"/>
          </p:cNvSpPr>
          <p:nvPr>
            <p:ph type="subTitle" idx="1"/>
          </p:nvPr>
        </p:nvSpPr>
        <p:spPr>
          <a:xfrm>
            <a:off x="467544" y="1425853"/>
            <a:ext cx="7920552" cy="5400600"/>
          </a:xfrm>
        </p:spPr>
        <p:txBody>
          <a:bodyPr>
            <a:normAutofit/>
          </a:bodyPr>
          <a:lstStyle/>
          <a:p>
            <a:pPr algn="l"/>
            <a:r>
              <a:rPr lang="th-TH" sz="3000" dirty="0"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th-TH" sz="3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1. ไม่มีอาการเจ็บหน้าอกแบบ</a:t>
            </a:r>
            <a:r>
              <a:rPr lang="en-US" sz="3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  Angina</a:t>
            </a:r>
            <a:r>
              <a:rPr lang="th-TH" sz="3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 ใน 8 ชม.</a:t>
            </a:r>
          </a:p>
          <a:p>
            <a:pPr algn="l"/>
            <a:r>
              <a:rPr lang="th-TH" sz="3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 2. ไม่เหนื่อย – </a:t>
            </a:r>
            <a:r>
              <a:rPr lang="en-US" sz="3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RR ≤  30 </a:t>
            </a:r>
            <a:r>
              <a:rPr lang="th-TH" sz="3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ครั้ง/นาที</a:t>
            </a:r>
          </a:p>
          <a:p>
            <a:pPr algn="l"/>
            <a:r>
              <a:rPr lang="th-TH" sz="3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                      -</a:t>
            </a:r>
            <a:r>
              <a:rPr lang="en-US" sz="3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O2sat ≥  95%(room air)</a:t>
            </a:r>
            <a:endParaRPr lang="th-TH" sz="30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l"/>
            <a:r>
              <a:rPr lang="th-TH" sz="3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 3. ไม่มี </a:t>
            </a:r>
            <a:r>
              <a:rPr lang="en-US" sz="3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EKG change(new/recurrent)</a:t>
            </a:r>
            <a:r>
              <a:rPr lang="th-TH" sz="3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ใน  8 ชั่วโมง   เช่น </a:t>
            </a:r>
          </a:p>
          <a:p>
            <a:pPr algn="l"/>
            <a:r>
              <a:rPr lang="th-TH" sz="3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     </a:t>
            </a:r>
            <a:r>
              <a:rPr lang="en-US" sz="3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ST elevate› 1mm.,ST depress › 1mm., new LBBB , new Inverted t</a:t>
            </a:r>
            <a:endParaRPr lang="th-TH" sz="30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l"/>
            <a:r>
              <a:rPr lang="th-TH" sz="3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4. ไม่มี  </a:t>
            </a:r>
            <a:r>
              <a:rPr lang="en-US" sz="3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Arrhythmia   </a:t>
            </a:r>
            <a:r>
              <a:rPr lang="th-TH" sz="3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ที่ทำให้ </a:t>
            </a:r>
            <a:r>
              <a:rPr lang="en-US" sz="3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Hemodynamic  change </a:t>
            </a:r>
            <a:r>
              <a:rPr lang="th-TH" sz="3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เช่น </a:t>
            </a:r>
            <a:r>
              <a:rPr lang="en-US" sz="3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PVC&gt;6    BPM ,short run VT (≥  3beat)  , SVT  ,AF with rapid ventricular  response rate&gt;120 BPM. Second  degree AV </a:t>
            </a:r>
            <a:r>
              <a:rPr lang="en-US" sz="3000" b="1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block,Third</a:t>
            </a:r>
            <a:r>
              <a:rPr lang="en-US" sz="3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 degree AV block </a:t>
            </a:r>
          </a:p>
          <a:p>
            <a:pPr algn="l"/>
            <a:r>
              <a:rPr lang="en-US" sz="3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 5.Resting SBP≤160 mmHg</a:t>
            </a:r>
            <a:r>
              <a:rPr lang="th-TH" sz="3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หรือ</a:t>
            </a:r>
            <a:r>
              <a:rPr lang="en-US" sz="3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Resting DBP ≤ 100mmHg( evaluated on case by case). Resting HR  ≤100/min</a:t>
            </a:r>
            <a:endParaRPr lang="th-TH" sz="30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0928334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ชื่อเรื่อง 3"/>
          <p:cNvSpPr>
            <a:spLocks noGrp="1"/>
          </p:cNvSpPr>
          <p:nvPr>
            <p:ph type="ctrTitle"/>
          </p:nvPr>
        </p:nvSpPr>
        <p:spPr>
          <a:xfrm>
            <a:off x="539552" y="116632"/>
            <a:ext cx="7851648" cy="1828800"/>
          </a:xfrm>
        </p:spPr>
        <p:txBody>
          <a:bodyPr>
            <a:normAutofit/>
          </a:bodyPr>
          <a:lstStyle/>
          <a:p>
            <a:pPr algn="l"/>
            <a:r>
              <a:rPr lang="th-TH" sz="50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โปรแกรมการฟื้นฟูสมรรถภาพหัวใจระยะผู้ป่วยในแบ่งเป็น 5 ระดับ ดังนี้</a:t>
            </a:r>
          </a:p>
        </p:txBody>
      </p:sp>
      <p:sp>
        <p:nvSpPr>
          <p:cNvPr id="5" name="ชื่อเรื่องรอง 4"/>
          <p:cNvSpPr>
            <a:spLocks noGrp="1"/>
          </p:cNvSpPr>
          <p:nvPr>
            <p:ph type="subTitle" idx="1"/>
          </p:nvPr>
        </p:nvSpPr>
        <p:spPr>
          <a:xfrm>
            <a:off x="539552" y="2060848"/>
            <a:ext cx="7920552" cy="4248472"/>
          </a:xfrm>
        </p:spPr>
        <p:txBody>
          <a:bodyPr>
            <a:noAutofit/>
          </a:bodyPr>
          <a:lstStyle/>
          <a:p>
            <a:pPr algn="l"/>
            <a:r>
              <a:rPr lang="en-US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1.Bedrest</a:t>
            </a:r>
          </a:p>
          <a:p>
            <a:pPr algn="l"/>
            <a:r>
              <a:rPr lang="en-US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2.</a:t>
            </a:r>
            <a:r>
              <a:rPr lang="th-TH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ลงนั่งเก้าอี้ข้างเตียง,นั่งถ่ายอุจจาระ </a:t>
            </a:r>
            <a:r>
              <a:rPr lang="en-US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bedside commode</a:t>
            </a:r>
          </a:p>
          <a:p>
            <a:pPr algn="l"/>
            <a:r>
              <a:rPr lang="en-US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3.</a:t>
            </a:r>
            <a:r>
              <a:rPr lang="th-TH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เดินไปขับถ่ายอุจจาระที่ห้องน้ำ,เดินใน </a:t>
            </a:r>
            <a:r>
              <a:rPr lang="en-US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ward </a:t>
            </a:r>
            <a:r>
              <a:rPr lang="th-TH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ระยะทาง </a:t>
            </a:r>
            <a:r>
              <a:rPr lang="en-US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30 </a:t>
            </a:r>
            <a:r>
              <a:rPr lang="th-TH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เมตร</a:t>
            </a:r>
          </a:p>
          <a:p>
            <a:pPr algn="l"/>
            <a:r>
              <a:rPr lang="en-US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4.</a:t>
            </a:r>
            <a:r>
              <a:rPr lang="th-TH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 ผู้ป่วยเดินไปอาบน้ำโดยตักน้ำ/ใช้ฝักบัวที่ห้องน้ำเองโดยมีเจ้าหน้าที่อยู่ใกล้คอยช่วยเหลือ</a:t>
            </a:r>
            <a:r>
              <a:rPr lang="en-US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th-TH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เดินระยะทาง </a:t>
            </a:r>
            <a:r>
              <a:rPr lang="en-US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70</a:t>
            </a:r>
            <a:r>
              <a:rPr lang="th-TH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 เมตร</a:t>
            </a:r>
          </a:p>
          <a:p>
            <a:pPr algn="l"/>
            <a:r>
              <a:rPr lang="en-US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5.</a:t>
            </a:r>
            <a:r>
              <a:rPr lang="th-TH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ทำกิจวัตรประจำวันทุกอย่างได้ด้วยตนเอง</a:t>
            </a:r>
          </a:p>
        </p:txBody>
      </p:sp>
    </p:spTree>
    <p:extLst>
      <p:ext uri="{BB962C8B-B14F-4D97-AF65-F5344CB8AC3E}">
        <p14:creationId xmlns:p14="http://schemas.microsoft.com/office/powerpoint/2010/main" val="4186897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96575D43-81BC-413F-A9E4-CFC3928020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620688"/>
            <a:ext cx="7851648" cy="1516226"/>
          </a:xfrm>
        </p:spPr>
        <p:txBody>
          <a:bodyPr>
            <a:normAutofit fontScale="90000"/>
          </a:bodyPr>
          <a:lstStyle/>
          <a:p>
            <a:pPr algn="l"/>
            <a:r>
              <a:rPr lang="th-TH" sz="50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ตัวอย่างโปรแกรมการฟื้นฟูสมรรถภาพหัวใจระยะผู้ป่วยใน</a:t>
            </a:r>
          </a:p>
        </p:txBody>
      </p:sp>
      <p:sp>
        <p:nvSpPr>
          <p:cNvPr id="3" name="ชื่อเรื่องรอง 2">
            <a:extLst>
              <a:ext uri="{FF2B5EF4-FFF2-40B4-BE49-F238E27FC236}">
                <a16:creationId xmlns:a16="http://schemas.microsoft.com/office/drawing/2014/main" id="{CFA8DA59-F9F5-4CD8-8A46-AAA36FF111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2136914"/>
            <a:ext cx="7854696" cy="4460438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th-TH" sz="4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ระดับที่ 1 &lt; 2 </a:t>
            </a:r>
            <a:r>
              <a:rPr lang="en-US" sz="4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METs]</a:t>
            </a:r>
          </a:p>
          <a:p>
            <a:pPr algn="l"/>
            <a:r>
              <a:rPr lang="th-TH" sz="4600" b="1" u="sng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การทำ</a:t>
            </a:r>
            <a:r>
              <a:rPr lang="th-TH" sz="4600" b="1" u="sng" dirty="0">
                <a:latin typeface="Angsana New" panose="02020603050405020304" pitchFamily="18" charset="-34"/>
                <a:cs typeface="Angsana New" panose="02020603050405020304" pitchFamily="18" charset="-34"/>
              </a:rPr>
              <a:t>กิจกรรม </a:t>
            </a:r>
          </a:p>
          <a:p>
            <a:pPr algn="l"/>
            <a:r>
              <a:rPr lang="th-TH" sz="4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1.ให้ผู้ป่วยนั่งพักอยู่บนเตียง รับประทานอาหารเองเท่าที่จะทำได้ </a:t>
            </a:r>
          </a:p>
          <a:p>
            <a:pPr algn="l"/>
            <a:r>
              <a:rPr lang="th-TH" sz="4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2. ล้างหน้าแปรงฟันอยู่บนเตียง หลังจากนั้นพยาบาลช่วยทำความสะอาดให้ทั้งหมด </a:t>
            </a:r>
          </a:p>
          <a:p>
            <a:pPr algn="l"/>
            <a:r>
              <a:rPr lang="th-TH" sz="4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3. ขับถ่ายปัสสาวะ อุจจาระอยู่บนเตียงโดยพยาบาลช่วยทำความสะอาดให้</a:t>
            </a:r>
          </a:p>
          <a:p>
            <a:pPr algn="l"/>
            <a:r>
              <a:rPr lang="th-TH" sz="4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4.ลุกนั่งที่ขอบเตียง และเคลื่อนไหวร่างกายอย่างค่อยเป็นค่อยไป</a:t>
            </a:r>
          </a:p>
          <a:p>
            <a:pPr algn="l"/>
            <a:endParaRPr lang="th-TH" sz="40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5644875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3A03A6F1-AD03-42E5-9F15-E17E8968B9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352" y="1124744"/>
            <a:ext cx="7851648" cy="1049288"/>
          </a:xfrm>
        </p:spPr>
        <p:txBody>
          <a:bodyPr>
            <a:normAutofit fontScale="90000"/>
          </a:bodyPr>
          <a:lstStyle/>
          <a:p>
            <a:pPr algn="l"/>
            <a:r>
              <a:rPr lang="th-TH" sz="50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ตัวอย่างโปรแกรมการฟื้นฟูสมรรถภาพหัวใจระยะผู้ป่วยใน</a:t>
            </a:r>
          </a:p>
        </p:txBody>
      </p:sp>
      <p:sp>
        <p:nvSpPr>
          <p:cNvPr id="3" name="ชื่อเรื่องรอง 2">
            <a:extLst>
              <a:ext uri="{FF2B5EF4-FFF2-40B4-BE49-F238E27FC236}">
                <a16:creationId xmlns:a16="http://schemas.microsoft.com/office/drawing/2014/main" id="{0AB7197A-F983-4EFB-8F35-CE0D861339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0352" y="2237336"/>
            <a:ext cx="7854696" cy="4288007"/>
          </a:xfrm>
        </p:spPr>
        <p:txBody>
          <a:bodyPr>
            <a:normAutofit lnSpcReduction="10000"/>
          </a:bodyPr>
          <a:lstStyle/>
          <a:p>
            <a:pPr algn="l"/>
            <a:r>
              <a:rPr lang="th-TH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ระดับที่ 1 &lt; 2 </a:t>
            </a:r>
            <a:r>
              <a:rPr lang="en-US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METs]</a:t>
            </a:r>
          </a:p>
          <a:p>
            <a:pPr algn="l"/>
            <a:r>
              <a:rPr lang="th-TH" sz="3600" b="1" u="sng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การออกกำลังกาย</a:t>
            </a:r>
          </a:p>
          <a:p>
            <a:pPr algn="l"/>
            <a:r>
              <a:rPr lang="th-TH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ให้ผู้ป่วยออกกำลังกายเบาๆในท่านอน และออกกำลังกายส่วนแขนขาในท่านั่ง</a:t>
            </a:r>
            <a:r>
              <a:rPr lang="en-US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</a:p>
          <a:p>
            <a:pPr algn="l"/>
            <a:r>
              <a:rPr lang="th-TH" sz="3600" b="1" u="sng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การให้ความรู้</a:t>
            </a:r>
          </a:p>
          <a:p>
            <a:pPr algn="l"/>
            <a:r>
              <a:rPr lang="th-TH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-แนะนำตัว</a:t>
            </a:r>
          </a:p>
          <a:p>
            <a:pPr algn="l"/>
            <a:r>
              <a:rPr lang="th-TH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-ให้ความมั่นใจ</a:t>
            </a:r>
          </a:p>
          <a:p>
            <a:pPr algn="l"/>
            <a:endParaRPr lang="en-US" sz="3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l"/>
            <a:endParaRPr lang="th-TH" sz="3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9170834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2B13D51A-A706-4AD8-BEDB-F446EA6330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6863" y="620688"/>
            <a:ext cx="7851648" cy="936104"/>
          </a:xfrm>
        </p:spPr>
        <p:txBody>
          <a:bodyPr>
            <a:normAutofit/>
          </a:bodyPr>
          <a:lstStyle/>
          <a:p>
            <a:pPr algn="l"/>
            <a:r>
              <a:rPr lang="th-TH" sz="38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ตัวอย่างโปรแกรมการฟื้นฟูสมรรถภาพหัวใจระยะผู้ป่วยใน</a:t>
            </a:r>
          </a:p>
        </p:txBody>
      </p:sp>
      <p:sp>
        <p:nvSpPr>
          <p:cNvPr id="3" name="ชื่อเรื่องรอง 2">
            <a:extLst>
              <a:ext uri="{FF2B5EF4-FFF2-40B4-BE49-F238E27FC236}">
                <a16:creationId xmlns:a16="http://schemas.microsoft.com/office/drawing/2014/main" id="{C5EBB328-6F83-40E2-B713-4EC71A95F5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9242" y="1556792"/>
            <a:ext cx="7854696" cy="5112568"/>
          </a:xfrm>
        </p:spPr>
        <p:txBody>
          <a:bodyPr>
            <a:normAutofit lnSpcReduction="10000"/>
          </a:bodyPr>
          <a:lstStyle/>
          <a:p>
            <a:pPr algn="l"/>
            <a:r>
              <a:rPr lang="th-TH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ระดับที่ 2   &lt; </a:t>
            </a:r>
            <a:r>
              <a:rPr lang="en-US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3</a:t>
            </a:r>
            <a:r>
              <a:rPr lang="th-TH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en-US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METs</a:t>
            </a:r>
          </a:p>
          <a:p>
            <a:pPr algn="l"/>
            <a:r>
              <a:rPr lang="th-TH" sz="3600" b="1" u="sng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การทำ</a:t>
            </a:r>
            <a:r>
              <a:rPr lang="th-TH" sz="3600" b="1" u="sng" dirty="0">
                <a:latin typeface="Angsana New" panose="02020603050405020304" pitchFamily="18" charset="-34"/>
                <a:cs typeface="Angsana New" panose="02020603050405020304" pitchFamily="18" charset="-34"/>
              </a:rPr>
              <a:t>กิจกรรม</a:t>
            </a:r>
          </a:p>
          <a:p>
            <a:pPr algn="l"/>
            <a:r>
              <a:rPr lang="th-TH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1.ให้ผู้ป่วยช่วยทำความสะอาดร่างกายบ้าง หลังจากนั้นพยาบาลช่วยทำความสะอาดให้ทั้งหมด </a:t>
            </a:r>
          </a:p>
          <a:p>
            <a:pPr algn="l"/>
            <a:r>
              <a:rPr lang="th-TH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2. ขับถ่ายอุจจาระข้างเตียง (</a:t>
            </a:r>
            <a:r>
              <a:rPr lang="en-US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Bedside commode)</a:t>
            </a:r>
            <a:r>
              <a:rPr lang="th-TH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โดยพยาบาลช่วยทำความสะอาดให้</a:t>
            </a:r>
          </a:p>
          <a:p>
            <a:pPr algn="l"/>
            <a:r>
              <a:rPr lang="th-TH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3.ให้ผู้ป่วยนั่งห้อยขาบนเตียง แกว่งเท้าประมาณ 5 นาที ให้ลุกยืนข้างเตียงและลงนั่งเก้าอี้ข้างเตียงซึ่งมีที่รองแขน นานครั้งละ 15 นาที วันละ 2 ครั้ง </a:t>
            </a:r>
          </a:p>
          <a:p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7715803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47E129C0-4053-4BAB-BB90-9551F8F9E6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352" y="692696"/>
            <a:ext cx="7851648" cy="689248"/>
          </a:xfrm>
        </p:spPr>
        <p:txBody>
          <a:bodyPr>
            <a:normAutofit/>
          </a:bodyPr>
          <a:lstStyle/>
          <a:p>
            <a:pPr algn="l"/>
            <a:r>
              <a:rPr lang="th-TH" sz="38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ตัวอย่างโปรแกรมการฟื้นฟูสมรรถภาพหัวใจระยะผู้ป่วยใน</a:t>
            </a:r>
          </a:p>
        </p:txBody>
      </p:sp>
      <p:sp>
        <p:nvSpPr>
          <p:cNvPr id="3" name="ชื่อเรื่องรอง 2">
            <a:extLst>
              <a:ext uri="{FF2B5EF4-FFF2-40B4-BE49-F238E27FC236}">
                <a16:creationId xmlns:a16="http://schemas.microsoft.com/office/drawing/2014/main" id="{F393D5E6-BCFD-4E5C-86EF-2F2BE0B7AE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0352" y="1556792"/>
            <a:ext cx="7854696" cy="4824536"/>
          </a:xfrm>
        </p:spPr>
        <p:txBody>
          <a:bodyPr/>
          <a:lstStyle/>
          <a:p>
            <a:pPr algn="l"/>
            <a:r>
              <a:rPr lang="th-TH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ระดับที่ 2   &lt;  </a:t>
            </a:r>
            <a:r>
              <a:rPr lang="en-US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3 METs</a:t>
            </a:r>
          </a:p>
          <a:p>
            <a:pPr algn="l"/>
            <a:r>
              <a:rPr lang="th-TH" sz="3600" b="1" u="sng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การออกกำลังกาย</a:t>
            </a:r>
          </a:p>
          <a:p>
            <a:pPr algn="l"/>
            <a:r>
              <a:rPr lang="th-TH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ให้บริหารแขน ขาในท่านั่งเพิ่มขึ้น เช้าเย็น</a:t>
            </a:r>
          </a:p>
          <a:p>
            <a:pPr algn="l"/>
            <a:r>
              <a:rPr lang="th-TH" sz="3600" b="1" u="sng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การให้ความรู้</a:t>
            </a:r>
          </a:p>
          <a:p>
            <a:pPr algn="l"/>
            <a:r>
              <a:rPr lang="th-TH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-โครงสร้างและหน้าที่หน้าที่ของหัวใจ</a:t>
            </a:r>
          </a:p>
          <a:p>
            <a:pPr algn="l"/>
            <a:r>
              <a:rPr lang="th-TH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-กล้ามเนื้อหัวใจตายคืออะไร</a:t>
            </a:r>
          </a:p>
          <a:p>
            <a:pPr algn="l"/>
            <a:r>
              <a:rPr lang="th-TH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-การรักษาโรคหัวใจและการปฏิบัติตน</a:t>
            </a:r>
          </a:p>
          <a:p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19856453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FA87DB72-C29A-4D90-88F2-C881CF71FE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3655" y="908720"/>
            <a:ext cx="7851648" cy="545232"/>
          </a:xfrm>
        </p:spPr>
        <p:txBody>
          <a:bodyPr>
            <a:noAutofit/>
          </a:bodyPr>
          <a:lstStyle/>
          <a:p>
            <a:pPr algn="l"/>
            <a:r>
              <a:rPr lang="th-TH" sz="38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ตัวอย่างโปรแกรมการฟื้นฟูสมรรถภาพหัวใจระยะผู้ป่วยใน</a:t>
            </a:r>
          </a:p>
        </p:txBody>
      </p:sp>
      <p:sp>
        <p:nvSpPr>
          <p:cNvPr id="3" name="ชื่อเรื่องรอง 2">
            <a:extLst>
              <a:ext uri="{FF2B5EF4-FFF2-40B4-BE49-F238E27FC236}">
                <a16:creationId xmlns:a16="http://schemas.microsoft.com/office/drawing/2014/main" id="{F62C7D71-D895-4971-AC58-3A23E50309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0607" y="1676400"/>
            <a:ext cx="7854696" cy="4848944"/>
          </a:xfrm>
        </p:spPr>
        <p:txBody>
          <a:bodyPr>
            <a:normAutofit lnSpcReduction="10000"/>
          </a:bodyPr>
          <a:lstStyle/>
          <a:p>
            <a:pPr algn="l"/>
            <a:r>
              <a:rPr lang="th-TH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ระดับที่ 3       &lt; 4 </a:t>
            </a:r>
            <a:r>
              <a:rPr lang="en-US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METs</a:t>
            </a:r>
          </a:p>
          <a:p>
            <a:pPr algn="l"/>
            <a:r>
              <a:rPr lang="th-TH" sz="3900" b="1" u="sng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การทำ</a:t>
            </a:r>
            <a:r>
              <a:rPr lang="th-TH" sz="3900" b="1" u="sng" dirty="0">
                <a:latin typeface="Angsana New" panose="02020603050405020304" pitchFamily="18" charset="-34"/>
                <a:cs typeface="Angsana New" panose="02020603050405020304" pitchFamily="18" charset="-34"/>
              </a:rPr>
              <a:t>กิจกรรม</a:t>
            </a:r>
          </a:p>
          <a:p>
            <a:pPr algn="l"/>
            <a:r>
              <a:rPr lang="th-TH" sz="39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1.ให้ผู้ป่วย ล้างหน้า แปรงฟันเอง เช็ดทำความสะอาดร่างกายเองเป็นบางส่วน หลังจากนั้นพยาบาลช่วยทำความสะอาดให้</a:t>
            </a:r>
          </a:p>
          <a:p>
            <a:pPr algn="l"/>
            <a:r>
              <a:rPr lang="th-TH" sz="39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2.ให้ลุกยืนข้างเตียงและลงนั่งเก้าอี้ข้างเตียงซึ่งมีที่รองแขน นานครั้งละ 30 นาที วันละ 2-3 ครั้งต่อวัน</a:t>
            </a:r>
          </a:p>
          <a:p>
            <a:pPr algn="l"/>
            <a:r>
              <a:rPr lang="th-TH" sz="39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 3.เดินไปขับถ่ายอุจจาระในห้องน้ำ </a:t>
            </a:r>
          </a:p>
          <a:p>
            <a:pPr algn="l"/>
            <a:endParaRPr lang="th-TH" sz="3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842263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2CE182E8-CA5D-4EEA-A439-9CB5120D81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352" y="836712"/>
            <a:ext cx="7851648" cy="689248"/>
          </a:xfrm>
        </p:spPr>
        <p:txBody>
          <a:bodyPr>
            <a:normAutofit/>
          </a:bodyPr>
          <a:lstStyle/>
          <a:p>
            <a:pPr algn="l"/>
            <a:r>
              <a:rPr lang="th-TH" sz="38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ตัวอย่างโปรแกรมการฟื้นฟูสมรรถภาพหัวใจระยะผู้ป่วยใน</a:t>
            </a:r>
          </a:p>
        </p:txBody>
      </p:sp>
      <p:sp>
        <p:nvSpPr>
          <p:cNvPr id="3" name="ชื่อเรื่องรอง 2">
            <a:extLst>
              <a:ext uri="{FF2B5EF4-FFF2-40B4-BE49-F238E27FC236}">
                <a16:creationId xmlns:a16="http://schemas.microsoft.com/office/drawing/2014/main" id="{3E1EA5B5-61A3-4A36-A408-0FE1341522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4652" y="1526304"/>
            <a:ext cx="7854696" cy="4999039"/>
          </a:xfrm>
        </p:spPr>
        <p:txBody>
          <a:bodyPr>
            <a:noAutofit/>
          </a:bodyPr>
          <a:lstStyle/>
          <a:p>
            <a:pPr algn="l"/>
            <a:r>
              <a:rPr lang="th-TH" sz="34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ระดับที่ 3       &lt; 4 </a:t>
            </a:r>
            <a:r>
              <a:rPr lang="en-US" sz="34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METs</a:t>
            </a:r>
          </a:p>
          <a:p>
            <a:pPr algn="l"/>
            <a:r>
              <a:rPr lang="th-TH" sz="3400" b="1" u="sng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การออกกำลังกาย</a:t>
            </a:r>
          </a:p>
          <a:p>
            <a:pPr algn="l"/>
            <a:r>
              <a:rPr lang="en-US" sz="34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1.</a:t>
            </a:r>
            <a:r>
              <a:rPr lang="th-TH" sz="34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ออกกำลังกายส่วนแขนและส่วนขาในท่านั่ง วันละ 2 รอบ </a:t>
            </a:r>
          </a:p>
          <a:p>
            <a:pPr algn="l"/>
            <a:r>
              <a:rPr lang="th-TH" sz="34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2.ขึ้นลงบันได 2-3 ขั้นบันไดได้</a:t>
            </a:r>
          </a:p>
          <a:p>
            <a:pPr algn="l"/>
            <a:r>
              <a:rPr lang="th-TH" sz="34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3.เดิน 90 เมตร ไปและกลับ เช้าและเย็น</a:t>
            </a:r>
          </a:p>
          <a:p>
            <a:pPr algn="l"/>
            <a:r>
              <a:rPr lang="th-TH" sz="3400" b="1" u="sng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การให้ความรู้</a:t>
            </a:r>
          </a:p>
          <a:p>
            <a:pPr algn="l"/>
            <a:r>
              <a:rPr lang="th-TH" sz="34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-ปัจจัยเสี่ยงต่อโรคหลอดเลือดหัวใจ</a:t>
            </a:r>
          </a:p>
          <a:p>
            <a:pPr algn="l"/>
            <a:r>
              <a:rPr lang="th-TH" sz="34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-การควบคุมปัจจัยเสี่ยง งดบุหรี่ อาหารที่เหมาะสม</a:t>
            </a:r>
          </a:p>
          <a:p>
            <a:pPr marL="514350" indent="-514350" algn="l">
              <a:buAutoNum type="arabicPeriod"/>
            </a:pPr>
            <a:endParaRPr lang="th-TH" sz="3400" dirty="0"/>
          </a:p>
        </p:txBody>
      </p:sp>
    </p:spTree>
    <p:extLst>
      <p:ext uri="{BB962C8B-B14F-4D97-AF65-F5344CB8AC3E}">
        <p14:creationId xmlns:p14="http://schemas.microsoft.com/office/powerpoint/2010/main" val="4749288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CA47B787-31CE-41B8-B48A-D84C33AEC5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6851" y="620688"/>
            <a:ext cx="7851648" cy="833264"/>
          </a:xfrm>
        </p:spPr>
        <p:txBody>
          <a:bodyPr>
            <a:normAutofit/>
          </a:bodyPr>
          <a:lstStyle/>
          <a:p>
            <a:pPr algn="l"/>
            <a:r>
              <a:rPr lang="th-TH" sz="38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ตัวอย่างโปรแกรมการฟื้นฟูสมรรถภาพหัวใจระยะผู้ป่วยใน</a:t>
            </a:r>
          </a:p>
        </p:txBody>
      </p:sp>
      <p:sp>
        <p:nvSpPr>
          <p:cNvPr id="3" name="ชื่อเรื่องรอง 2">
            <a:extLst>
              <a:ext uri="{FF2B5EF4-FFF2-40B4-BE49-F238E27FC236}">
                <a16:creationId xmlns:a16="http://schemas.microsoft.com/office/drawing/2014/main" id="{E354CC8C-0699-4E78-BEF9-C901664516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3803" y="1556792"/>
            <a:ext cx="7854696" cy="5040559"/>
          </a:xfrm>
        </p:spPr>
        <p:txBody>
          <a:bodyPr>
            <a:normAutofit/>
          </a:bodyPr>
          <a:lstStyle/>
          <a:p>
            <a:pPr algn="l"/>
            <a:r>
              <a:rPr lang="th-TH" sz="34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ระดับที่ 4   &lt; 5 </a:t>
            </a:r>
            <a:r>
              <a:rPr lang="en-US" sz="34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METs </a:t>
            </a:r>
          </a:p>
          <a:p>
            <a:pPr algn="l"/>
            <a:r>
              <a:rPr lang="th-TH" sz="3400" b="1" u="sng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การทำ</a:t>
            </a:r>
            <a:r>
              <a:rPr lang="th-TH" sz="3400" b="1" u="sng" dirty="0">
                <a:latin typeface="Angsana New" panose="02020603050405020304" pitchFamily="18" charset="-34"/>
                <a:cs typeface="Angsana New" panose="02020603050405020304" pitchFamily="18" charset="-34"/>
              </a:rPr>
              <a:t>กิจกรรม</a:t>
            </a:r>
          </a:p>
          <a:p>
            <a:pPr algn="l"/>
            <a:r>
              <a:rPr lang="th-TH" sz="34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ทำตามระดับที่ 3 และทำกิจกรรมเพิ่มขึ้นดังนี้</a:t>
            </a:r>
          </a:p>
          <a:p>
            <a:pPr algn="l"/>
            <a:r>
              <a:rPr lang="th-TH" sz="34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1.อาบน้ำในห้องได้เอง(มีเก้าอี้นั่ง)โดยมีเจ้าหน้าที่เฝ้าตลอด</a:t>
            </a:r>
          </a:p>
          <a:p>
            <a:pPr algn="l"/>
            <a:r>
              <a:rPr lang="th-TH" sz="34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2.ช่วยเหลือตนเองได้เกือบทุกอย่าง เช่น เดิน</a:t>
            </a:r>
          </a:p>
          <a:p>
            <a:pPr algn="l"/>
            <a:r>
              <a:rPr lang="th-TH" sz="3400" b="1" u="sng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การออกกำลังกาย</a:t>
            </a:r>
          </a:p>
          <a:p>
            <a:pPr algn="l"/>
            <a:r>
              <a:rPr lang="en-US" sz="34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1.</a:t>
            </a:r>
            <a:r>
              <a:rPr lang="th-TH" sz="34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ออกกำลังกายส่วนแขนและส่วนขาในท่านั่งและยืน </a:t>
            </a:r>
          </a:p>
          <a:p>
            <a:pPr algn="l"/>
            <a:r>
              <a:rPr lang="th-TH" sz="34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2.เดิน 150 เมตร ไปและกลับ เช้าและเย็น</a:t>
            </a:r>
          </a:p>
        </p:txBody>
      </p:sp>
    </p:spTree>
    <p:extLst>
      <p:ext uri="{BB962C8B-B14F-4D97-AF65-F5344CB8AC3E}">
        <p14:creationId xmlns:p14="http://schemas.microsoft.com/office/powerpoint/2010/main" val="40324539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9B4889E4-B68A-409D-8AEC-633CAF32E4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7900" y="836712"/>
            <a:ext cx="7851648" cy="617240"/>
          </a:xfrm>
        </p:spPr>
        <p:txBody>
          <a:bodyPr>
            <a:normAutofit/>
          </a:bodyPr>
          <a:lstStyle/>
          <a:p>
            <a:pPr algn="l"/>
            <a:r>
              <a:rPr lang="th-TH" sz="38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ตัวอย่างโปรแกรมการฟื้นฟูสมรรถภาพหัวใจระยะผู้ป่วยใน</a:t>
            </a:r>
          </a:p>
        </p:txBody>
      </p:sp>
      <p:sp>
        <p:nvSpPr>
          <p:cNvPr id="3" name="ชื่อเรื่องรอง 2">
            <a:extLst>
              <a:ext uri="{FF2B5EF4-FFF2-40B4-BE49-F238E27FC236}">
                <a16:creationId xmlns:a16="http://schemas.microsoft.com/office/drawing/2014/main" id="{96FA157A-1005-4FBE-B892-885FC8EBD5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4852" y="1676400"/>
            <a:ext cx="7854696" cy="4776936"/>
          </a:xfrm>
        </p:spPr>
        <p:txBody>
          <a:bodyPr/>
          <a:lstStyle/>
          <a:p>
            <a:pPr algn="l"/>
            <a:r>
              <a:rPr lang="th-TH" sz="3600" b="1" u="sng" dirty="0">
                <a:latin typeface="Angsana New" panose="02020603050405020304" pitchFamily="18" charset="-34"/>
                <a:cs typeface="Angsana New" panose="02020603050405020304" pitchFamily="18" charset="-34"/>
              </a:rPr>
              <a:t>ระดับที่ 4   &lt; 5 </a:t>
            </a:r>
            <a:r>
              <a:rPr lang="en-US" sz="3600" b="1" u="sng" dirty="0">
                <a:latin typeface="Angsana New" panose="02020603050405020304" pitchFamily="18" charset="-34"/>
                <a:cs typeface="Angsana New" panose="02020603050405020304" pitchFamily="18" charset="-34"/>
              </a:rPr>
              <a:t>METs </a:t>
            </a:r>
          </a:p>
          <a:p>
            <a:pPr algn="l"/>
            <a:r>
              <a:rPr lang="th-TH" sz="3600" b="1" u="sng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การออกกำลังกาย</a:t>
            </a:r>
          </a:p>
          <a:p>
            <a:pPr algn="l"/>
            <a:r>
              <a:rPr lang="th-TH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3.เดินลงบันได 1 ชั้น กลับด</a:t>
            </a:r>
            <a:r>
              <a:rPr lang="th-TH" sz="3600" b="1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้ว</a:t>
            </a:r>
            <a:r>
              <a:rPr lang="th-TH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ยล</a:t>
            </a:r>
            <a:r>
              <a:rPr lang="th-TH" sz="3600" b="1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ิฟท์</a:t>
            </a:r>
            <a:r>
              <a:rPr lang="th-TH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</a:p>
          <a:p>
            <a:pPr algn="l"/>
            <a:r>
              <a:rPr lang="th-TH" sz="3600" b="1" u="sng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การให้ความรู้</a:t>
            </a:r>
          </a:p>
          <a:p>
            <a:pPr algn="l"/>
            <a:r>
              <a:rPr lang="th-TH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-แนะนำการออกกำลังกายแบบผู้ป่วยนอก</a:t>
            </a:r>
          </a:p>
          <a:p>
            <a:pPr algn="l"/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2128759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D75E9AD5-B575-41BD-B081-7491970484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352" y="764704"/>
            <a:ext cx="7851648" cy="689248"/>
          </a:xfrm>
        </p:spPr>
        <p:txBody>
          <a:bodyPr>
            <a:normAutofit/>
          </a:bodyPr>
          <a:lstStyle/>
          <a:p>
            <a:pPr algn="l"/>
            <a:r>
              <a:rPr lang="th-TH" sz="38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ตัวอย่างโปรแกรมการฟื้นฟูสมรรถภาพหัวใจระยะผู้ป่วยใน</a:t>
            </a:r>
          </a:p>
        </p:txBody>
      </p:sp>
      <p:sp>
        <p:nvSpPr>
          <p:cNvPr id="3" name="ชื่อเรื่องรอง 2">
            <a:extLst>
              <a:ext uri="{FF2B5EF4-FFF2-40B4-BE49-F238E27FC236}">
                <a16:creationId xmlns:a16="http://schemas.microsoft.com/office/drawing/2014/main" id="{F8B2D12D-BE0D-4672-8D43-A0376B53A7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0352" y="1268760"/>
            <a:ext cx="7854696" cy="5472608"/>
          </a:xfrm>
        </p:spPr>
        <p:txBody>
          <a:bodyPr/>
          <a:lstStyle/>
          <a:p>
            <a:pPr algn="l"/>
            <a:r>
              <a:rPr lang="th-TH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ระดับที่ 5  ≥  5 </a:t>
            </a:r>
            <a:r>
              <a:rPr lang="en-US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METs </a:t>
            </a:r>
            <a:endParaRPr lang="th-TH" sz="36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l"/>
            <a:r>
              <a:rPr lang="th-TH" sz="3600" b="1" u="sng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การทำ</a:t>
            </a:r>
            <a:r>
              <a:rPr lang="th-TH" sz="3600" b="1" u="sng" dirty="0">
                <a:latin typeface="Angsana New" panose="02020603050405020304" pitchFamily="18" charset="-34"/>
                <a:cs typeface="Angsana New" panose="02020603050405020304" pitchFamily="18" charset="-34"/>
              </a:rPr>
              <a:t>กิจกรรม</a:t>
            </a:r>
          </a:p>
          <a:p>
            <a:pPr algn="l"/>
            <a:r>
              <a:rPr lang="th-TH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 ทำตามระดับที่ 4</a:t>
            </a:r>
          </a:p>
          <a:p>
            <a:pPr algn="l"/>
            <a:r>
              <a:rPr lang="th-TH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1.อาบน้ำในห้องได้เอง(มีเก้าอี้นั่ง)โดยมีเจ้าหน้าที่เฝ้าตลอด</a:t>
            </a:r>
          </a:p>
          <a:p>
            <a:pPr algn="l"/>
            <a:r>
              <a:rPr lang="th-TH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2.ช่วยเหลือตนเองได้เกือบทุกอย่าง </a:t>
            </a:r>
          </a:p>
          <a:p>
            <a:pPr algn="l"/>
            <a:r>
              <a:rPr lang="th-TH" sz="3600" b="1" u="sng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การออกกำลังกาย</a:t>
            </a:r>
          </a:p>
          <a:p>
            <a:pPr algn="l"/>
            <a:r>
              <a:rPr lang="en-US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1.</a:t>
            </a:r>
            <a:r>
              <a:rPr lang="th-TH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ออกกำลังกายส่วนแขนและส่วนขาในท่านั่งและยืน </a:t>
            </a:r>
          </a:p>
          <a:p>
            <a:pPr algn="l"/>
            <a:r>
              <a:rPr lang="en-US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2</a:t>
            </a:r>
            <a:r>
              <a:rPr lang="th-TH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.เดิน 150 เมตร ไปและกลับ เช้าและเย็น</a:t>
            </a:r>
          </a:p>
          <a:p>
            <a:pPr algn="l"/>
            <a:endParaRPr lang="th-TH" sz="3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339487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343251CA-379E-4201-B297-B5D373CF80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352" y="452264"/>
            <a:ext cx="7851648" cy="833264"/>
          </a:xfrm>
        </p:spPr>
        <p:txBody>
          <a:bodyPr>
            <a:normAutofit/>
          </a:bodyPr>
          <a:lstStyle/>
          <a:p>
            <a:pPr algn="l"/>
            <a:r>
              <a:rPr lang="th-TH" sz="38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ตัวอย่างโปรแกรมการฟื้นฟูสมรรถภาพหัวใจระยะผู้ป่วยใน</a:t>
            </a:r>
          </a:p>
        </p:txBody>
      </p:sp>
      <p:sp>
        <p:nvSpPr>
          <p:cNvPr id="3" name="ชื่อเรื่องรอง 2">
            <a:extLst>
              <a:ext uri="{FF2B5EF4-FFF2-40B4-BE49-F238E27FC236}">
                <a16:creationId xmlns:a16="http://schemas.microsoft.com/office/drawing/2014/main" id="{096D2BEB-45A6-4540-A8BF-0E6E4F4811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2328" y="1536366"/>
            <a:ext cx="7854696" cy="5243583"/>
          </a:xfrm>
        </p:spPr>
        <p:txBody>
          <a:bodyPr/>
          <a:lstStyle/>
          <a:p>
            <a:pPr algn="l"/>
            <a:r>
              <a:rPr lang="th-TH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ระดับที่ 5  ≥  5 </a:t>
            </a:r>
            <a:r>
              <a:rPr lang="en-US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METs </a:t>
            </a:r>
            <a:endParaRPr lang="th-TH" sz="36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l"/>
            <a:r>
              <a:rPr lang="th-TH" sz="3600" b="1" u="sng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การออกกำลังกาย</a:t>
            </a:r>
          </a:p>
          <a:p>
            <a:pPr algn="l"/>
            <a:r>
              <a:rPr lang="th-TH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3.เดินขึ้นลงบันได 1 ชั้น หรืออาจพิจารณาให้เดินบนสายพานได้</a:t>
            </a:r>
          </a:p>
          <a:p>
            <a:pPr algn="l"/>
            <a:r>
              <a:rPr lang="th-TH" sz="3600" b="1" u="sng" dirty="0">
                <a:latin typeface="Angsana New" panose="02020603050405020304" pitchFamily="18" charset="-34"/>
                <a:cs typeface="Angsana New" panose="02020603050405020304" pitchFamily="18" charset="-34"/>
              </a:rPr>
              <a:t> การให้ความรู้</a:t>
            </a:r>
          </a:p>
          <a:p>
            <a:pPr algn="l"/>
            <a:r>
              <a:rPr lang="th-TH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-เตรียมกลับบ้าน</a:t>
            </a:r>
          </a:p>
          <a:p>
            <a:pPr algn="l"/>
            <a:r>
              <a:rPr lang="th-TH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-แนะนำการรับประทานยาและการรักษาต่อเนื่อง</a:t>
            </a:r>
          </a:p>
          <a:p>
            <a:pPr algn="l"/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1131094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852B9CAB-3536-4BD2-B1F4-67032AE8C6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1838" y="118342"/>
            <a:ext cx="4644696" cy="1008112"/>
          </a:xfrm>
        </p:spPr>
        <p:txBody>
          <a:bodyPr>
            <a:normAutofit/>
          </a:bodyPr>
          <a:lstStyle/>
          <a:p>
            <a:r>
              <a:rPr lang="th-TH" sz="38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ท่าบริหารฟื้นฟูผู้ป่วยโรคหัวใจ</a:t>
            </a:r>
          </a:p>
        </p:txBody>
      </p:sp>
      <p:sp>
        <p:nvSpPr>
          <p:cNvPr id="3" name="ชื่อเรื่องรอง 2">
            <a:extLst>
              <a:ext uri="{FF2B5EF4-FFF2-40B4-BE49-F238E27FC236}">
                <a16:creationId xmlns:a16="http://schemas.microsoft.com/office/drawing/2014/main" id="{81B9F76E-1F46-46A5-8A21-C3A0C84203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75656" y="1317928"/>
            <a:ext cx="6768424" cy="5063400"/>
          </a:xfrm>
        </p:spPr>
        <p:txBody>
          <a:bodyPr/>
          <a:lstStyle/>
          <a:p>
            <a:r>
              <a:rPr lang="th-TH" sz="28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ท่าที่ </a:t>
            </a:r>
            <a:r>
              <a:rPr lang="en-US" sz="28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1</a:t>
            </a:r>
            <a:r>
              <a:rPr lang="th-TH" sz="28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                                </a:t>
            </a:r>
            <a:endParaRPr lang="en-US" sz="2800" dirty="0">
              <a:solidFill>
                <a:schemeClr val="bg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th-TH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นอนบนเตียง หมุนข้อเท้าเป็นวงกลม</a:t>
            </a:r>
          </a:p>
          <a:p>
            <a:r>
              <a:rPr lang="th-TH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 สลับหมุนด้านในและด้านนอก </a:t>
            </a:r>
          </a:p>
          <a:p>
            <a:r>
              <a:rPr lang="th-TH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อย่างละ 5 ครั้ง วันละ 2 ครั้ง เช้า-เย็น</a:t>
            </a:r>
          </a:p>
          <a:p>
            <a:endParaRPr lang="th-TH" dirty="0"/>
          </a:p>
        </p:txBody>
      </p:sp>
      <p:pic>
        <p:nvPicPr>
          <p:cNvPr id="5" name="รูปภาพ 4">
            <a:extLst>
              <a:ext uri="{FF2B5EF4-FFF2-40B4-BE49-F238E27FC236}">
                <a16:creationId xmlns:a16="http://schemas.microsoft.com/office/drawing/2014/main" id="{9E6A669B-A9E4-487A-90D8-C17A026626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578" y="1628800"/>
            <a:ext cx="2937548" cy="1800200"/>
          </a:xfrm>
          <a:prstGeom prst="rect">
            <a:avLst/>
          </a:prstGeom>
        </p:spPr>
      </p:pic>
      <p:pic>
        <p:nvPicPr>
          <p:cNvPr id="7" name="รูปภาพ 6">
            <a:extLst>
              <a:ext uri="{FF2B5EF4-FFF2-40B4-BE49-F238E27FC236}">
                <a16:creationId xmlns:a16="http://schemas.microsoft.com/office/drawing/2014/main" id="{74117839-1CDA-45BB-A9B8-596766AD80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578" y="4005064"/>
            <a:ext cx="2937548" cy="1944216"/>
          </a:xfrm>
          <a:prstGeom prst="rect">
            <a:avLst/>
          </a:prstGeom>
        </p:spPr>
      </p:pic>
      <p:sp>
        <p:nvSpPr>
          <p:cNvPr id="8" name="สี่เหลี่ยมผืนผ้า 7">
            <a:extLst>
              <a:ext uri="{FF2B5EF4-FFF2-40B4-BE49-F238E27FC236}">
                <a16:creationId xmlns:a16="http://schemas.microsoft.com/office/drawing/2014/main" id="{FFB05CE8-AC4E-4471-BCD1-508338D04E76}"/>
              </a:ext>
            </a:extLst>
          </p:cNvPr>
          <p:cNvSpPr/>
          <p:nvPr/>
        </p:nvSpPr>
        <p:spPr>
          <a:xfrm>
            <a:off x="4551748" y="4005065"/>
            <a:ext cx="3827674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h-TH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                                                </a:t>
            </a:r>
            <a:r>
              <a:rPr lang="th-TH" sz="28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ท่าที่ </a:t>
            </a:r>
            <a:r>
              <a:rPr lang="en-US" sz="28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</a:t>
            </a:r>
            <a:endParaRPr lang="th-TH" sz="2800" dirty="0">
              <a:solidFill>
                <a:schemeClr val="bg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th-TH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นอนบนเตียง กระดกปลายเท้า ขึ้นลง ทำซ้ำ 5 ครั้ง</a:t>
            </a:r>
          </a:p>
          <a:p>
            <a:r>
              <a:rPr lang="th-TH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วันละ 2 ครั้ง เช้า-เย็น</a:t>
            </a:r>
          </a:p>
        </p:txBody>
      </p:sp>
    </p:spTree>
    <p:extLst>
      <p:ext uri="{BB962C8B-B14F-4D97-AF65-F5344CB8AC3E}">
        <p14:creationId xmlns:p14="http://schemas.microsoft.com/office/powerpoint/2010/main" val="8519731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3648869E-D100-4FA2-9A2C-EEBE582272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3608" y="260648"/>
            <a:ext cx="3813048" cy="936104"/>
          </a:xfrm>
        </p:spPr>
        <p:txBody>
          <a:bodyPr>
            <a:normAutofit/>
          </a:bodyPr>
          <a:lstStyle/>
          <a:p>
            <a:r>
              <a:rPr lang="th-TH" sz="36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ท่าบริหารฟื้นฟูผู้ป่วยโรคหัวใจ</a:t>
            </a:r>
          </a:p>
        </p:txBody>
      </p:sp>
      <p:pic>
        <p:nvPicPr>
          <p:cNvPr id="4" name="รูปภาพ 3">
            <a:extLst>
              <a:ext uri="{FF2B5EF4-FFF2-40B4-BE49-F238E27FC236}">
                <a16:creationId xmlns:a16="http://schemas.microsoft.com/office/drawing/2014/main" id="{6851ACB5-BF6B-4899-BC1E-B24CB388B3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7" y="1547171"/>
            <a:ext cx="3480065" cy="1800200"/>
          </a:xfrm>
          <a:prstGeom prst="rect">
            <a:avLst/>
          </a:prstGeom>
        </p:spPr>
      </p:pic>
      <p:sp>
        <p:nvSpPr>
          <p:cNvPr id="3" name="ชื่อเรื่องรอง 2">
            <a:extLst>
              <a:ext uri="{FF2B5EF4-FFF2-40B4-BE49-F238E27FC236}">
                <a16:creationId xmlns:a16="http://schemas.microsoft.com/office/drawing/2014/main" id="{D1172C58-34A1-4F0D-8B24-1B9830AEC3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20328" y="1270005"/>
            <a:ext cx="3642692" cy="576064"/>
          </a:xfrm>
        </p:spPr>
        <p:txBody>
          <a:bodyPr>
            <a:normAutofit fontScale="25000" lnSpcReduction="20000"/>
          </a:bodyPr>
          <a:lstStyle/>
          <a:p>
            <a:endParaRPr lang="th-TH" sz="11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th-TH" sz="112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ท่าที่ 3                                 </a:t>
            </a:r>
          </a:p>
          <a:p>
            <a:r>
              <a:rPr lang="th-TH" sz="11200" dirty="0">
                <a:latin typeface="Angsana New" panose="02020603050405020304" pitchFamily="18" charset="-34"/>
                <a:cs typeface="Angsana New" panose="02020603050405020304" pitchFamily="18" charset="-34"/>
              </a:rPr>
              <a:t>นั่งห้อยขาบนเตียง หมุนคอเป็นวงกลม ทั้งซ้ายและขวาข้างละ 5 ครั้งวันละ 2 ครั้ง เช้า-เย็น</a:t>
            </a:r>
          </a:p>
          <a:p>
            <a:endParaRPr lang="th-TH" dirty="0"/>
          </a:p>
        </p:txBody>
      </p:sp>
      <p:pic>
        <p:nvPicPr>
          <p:cNvPr id="5" name="รูปภาพ 4">
            <a:extLst>
              <a:ext uri="{FF2B5EF4-FFF2-40B4-BE49-F238E27FC236}">
                <a16:creationId xmlns:a16="http://schemas.microsoft.com/office/drawing/2014/main" id="{19779001-85EE-4BF1-A586-2A2D7CC4DB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6" y="3964821"/>
            <a:ext cx="3480065" cy="1800199"/>
          </a:xfrm>
          <a:prstGeom prst="rect">
            <a:avLst/>
          </a:prstGeom>
        </p:spPr>
      </p:pic>
      <p:sp>
        <p:nvSpPr>
          <p:cNvPr id="6" name="สี่เหลี่ยมผืนผ้า 5">
            <a:extLst>
              <a:ext uri="{FF2B5EF4-FFF2-40B4-BE49-F238E27FC236}">
                <a16:creationId xmlns:a16="http://schemas.microsoft.com/office/drawing/2014/main" id="{DCB9561B-09FA-4D90-B883-196E5B6C18E9}"/>
              </a:ext>
            </a:extLst>
          </p:cNvPr>
          <p:cNvSpPr/>
          <p:nvPr/>
        </p:nvSpPr>
        <p:spPr>
          <a:xfrm>
            <a:off x="4856656" y="3964821"/>
            <a:ext cx="3747791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h-TH" sz="28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                                           ท่าที่ </a:t>
            </a:r>
            <a:r>
              <a:rPr lang="en-US" sz="28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4</a:t>
            </a:r>
            <a:endParaRPr lang="th-TH" sz="2800" dirty="0">
              <a:solidFill>
                <a:schemeClr val="bg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th-TH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นั่งห้อยขาบนเตียง สลับข้างเหยียดเข่าตรงและกระดกข้อเท้า ทำสลับซ้ายขวา  ข้างละ 5 ครั้ง     เช้า-เย็น</a:t>
            </a:r>
          </a:p>
        </p:txBody>
      </p:sp>
    </p:spTree>
    <p:extLst>
      <p:ext uri="{BB962C8B-B14F-4D97-AF65-F5344CB8AC3E}">
        <p14:creationId xmlns:p14="http://schemas.microsoft.com/office/powerpoint/2010/main" val="39341382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633359B8-02B4-41B1-851E-EF24400897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5576" y="116632"/>
            <a:ext cx="4035224" cy="1036712"/>
          </a:xfrm>
        </p:spPr>
        <p:txBody>
          <a:bodyPr>
            <a:normAutofit/>
          </a:bodyPr>
          <a:lstStyle/>
          <a:p>
            <a:r>
              <a:rPr lang="th-TH" sz="38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ท่าบริหารฟื้นฟูผู้ป่วยโรคหัวใจ</a:t>
            </a:r>
          </a:p>
        </p:txBody>
      </p:sp>
      <p:pic>
        <p:nvPicPr>
          <p:cNvPr id="4" name="รูปภาพ 3">
            <a:extLst>
              <a:ext uri="{FF2B5EF4-FFF2-40B4-BE49-F238E27FC236}">
                <a16:creationId xmlns:a16="http://schemas.microsoft.com/office/drawing/2014/main" id="{0D7CFCC8-C9A0-4802-8AEE-CB0DABAB50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700808"/>
            <a:ext cx="2808312" cy="1584176"/>
          </a:xfrm>
          <a:prstGeom prst="rect">
            <a:avLst/>
          </a:prstGeom>
        </p:spPr>
      </p:pic>
      <p:sp>
        <p:nvSpPr>
          <p:cNvPr id="3" name="ชื่อเรื่องรอง 2">
            <a:extLst>
              <a:ext uri="{FF2B5EF4-FFF2-40B4-BE49-F238E27FC236}">
                <a16:creationId xmlns:a16="http://schemas.microsoft.com/office/drawing/2014/main" id="{EF0ABF3D-3BC7-48C3-B83B-861D458339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4652" y="1268760"/>
            <a:ext cx="7854696" cy="4896544"/>
          </a:xfrm>
        </p:spPr>
        <p:txBody>
          <a:bodyPr>
            <a:normAutofit/>
          </a:bodyPr>
          <a:lstStyle/>
          <a:p>
            <a:r>
              <a:rPr lang="th-TH" sz="28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ท่าที่ </a:t>
            </a:r>
            <a:r>
              <a:rPr lang="en-US" sz="28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5</a:t>
            </a:r>
            <a:r>
              <a:rPr lang="th-TH" sz="28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              </a:t>
            </a:r>
          </a:p>
          <a:p>
            <a:r>
              <a:rPr lang="th-TH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                           หมุนไหล่ไปข้างหน้าและหลัง </a:t>
            </a:r>
          </a:p>
          <a:p>
            <a:r>
              <a:rPr lang="th-TH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อย่างละ5 ครั้ง</a:t>
            </a:r>
          </a:p>
          <a:p>
            <a:r>
              <a:rPr lang="th-TH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วันละ   2 ครั้ง เช้า-เย็น</a:t>
            </a:r>
          </a:p>
          <a:p>
            <a:r>
              <a:rPr lang="th-TH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                                         </a:t>
            </a:r>
          </a:p>
        </p:txBody>
      </p:sp>
      <p:pic>
        <p:nvPicPr>
          <p:cNvPr id="5" name="รูปภาพ 4">
            <a:extLst>
              <a:ext uri="{FF2B5EF4-FFF2-40B4-BE49-F238E27FC236}">
                <a16:creationId xmlns:a16="http://schemas.microsoft.com/office/drawing/2014/main" id="{9D8141E4-B68E-4152-BDD3-A0DD542F8A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3856388"/>
            <a:ext cx="2808312" cy="1876867"/>
          </a:xfrm>
          <a:prstGeom prst="rect">
            <a:avLst/>
          </a:prstGeom>
        </p:spPr>
      </p:pic>
      <p:sp>
        <p:nvSpPr>
          <p:cNvPr id="6" name="สี่เหลี่ยมผืนผ้า 5">
            <a:extLst>
              <a:ext uri="{FF2B5EF4-FFF2-40B4-BE49-F238E27FC236}">
                <a16:creationId xmlns:a16="http://schemas.microsoft.com/office/drawing/2014/main" id="{3DBC5825-029B-4766-92AC-2041733BAF44}"/>
              </a:ext>
            </a:extLst>
          </p:cNvPr>
          <p:cNvSpPr/>
          <p:nvPr/>
        </p:nvSpPr>
        <p:spPr>
          <a:xfrm>
            <a:off x="4917199" y="3686338"/>
            <a:ext cx="3582149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h-TH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                                            </a:t>
            </a:r>
            <a:r>
              <a:rPr lang="th-TH" sz="28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ท่าที่ </a:t>
            </a:r>
            <a:r>
              <a:rPr lang="en-US" sz="28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6</a:t>
            </a:r>
          </a:p>
          <a:p>
            <a:r>
              <a:rPr lang="th-TH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          ยกแขนขึ้นให้ข้อศอกตรง</a:t>
            </a:r>
          </a:p>
          <a:p>
            <a:r>
              <a:rPr lang="th-TH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          ทำซ้ำ 5 ครั้ง</a:t>
            </a:r>
          </a:p>
          <a:p>
            <a:r>
              <a:rPr lang="th-TH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          วันละ 2 ครั้ง เช้า-เย็น</a:t>
            </a:r>
          </a:p>
        </p:txBody>
      </p:sp>
    </p:spTree>
    <p:extLst>
      <p:ext uri="{BB962C8B-B14F-4D97-AF65-F5344CB8AC3E}">
        <p14:creationId xmlns:p14="http://schemas.microsoft.com/office/powerpoint/2010/main" val="20427683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3452D88E-E43C-495F-8A17-7416DA8D45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544" y="476672"/>
            <a:ext cx="4283779" cy="720080"/>
          </a:xfrm>
        </p:spPr>
        <p:txBody>
          <a:bodyPr>
            <a:normAutofit/>
          </a:bodyPr>
          <a:lstStyle/>
          <a:p>
            <a:r>
              <a:rPr lang="th-TH" sz="38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ท่าบริหารฟื้นฟูผู้ป่วยโรคหัวใจ</a:t>
            </a:r>
          </a:p>
        </p:txBody>
      </p:sp>
      <p:pic>
        <p:nvPicPr>
          <p:cNvPr id="6" name="รูปภาพ 5">
            <a:extLst>
              <a:ext uri="{FF2B5EF4-FFF2-40B4-BE49-F238E27FC236}">
                <a16:creationId xmlns:a16="http://schemas.microsoft.com/office/drawing/2014/main" id="{48F7077F-12E9-46AD-B0FB-D7E214FFE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660" y="1557136"/>
            <a:ext cx="2870260" cy="1367808"/>
          </a:xfrm>
          <a:prstGeom prst="rect">
            <a:avLst/>
          </a:prstGeom>
        </p:spPr>
      </p:pic>
      <p:sp>
        <p:nvSpPr>
          <p:cNvPr id="3" name="ชื่อเรื่องรอง 2">
            <a:extLst>
              <a:ext uri="{FF2B5EF4-FFF2-40B4-BE49-F238E27FC236}">
                <a16:creationId xmlns:a16="http://schemas.microsoft.com/office/drawing/2014/main" id="{E466B78C-BC65-4F91-A112-23B1909057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4652" y="1196752"/>
            <a:ext cx="7854696" cy="4968552"/>
          </a:xfrm>
        </p:spPr>
        <p:txBody>
          <a:bodyPr/>
          <a:lstStyle/>
          <a:p>
            <a:r>
              <a:rPr lang="th-TH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ท่าที่ </a:t>
            </a:r>
            <a:r>
              <a:rPr lang="en-US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7</a:t>
            </a:r>
          </a:p>
          <a:p>
            <a:r>
              <a:rPr lang="th-TH" dirty="0">
                <a:latin typeface="Angsana New" panose="02020603050405020304" pitchFamily="18" charset="-34"/>
                <a:cs typeface="Angsana New" panose="02020603050405020304" pitchFamily="18" charset="-34"/>
              </a:rPr>
              <a:t>นั่งห้อยขา งอเข่าชิดอกสลับข้างซ้ายขวา</a:t>
            </a:r>
          </a:p>
          <a:p>
            <a:r>
              <a:rPr lang="th-TH" dirty="0">
                <a:latin typeface="Angsana New" panose="02020603050405020304" pitchFamily="18" charset="-34"/>
                <a:cs typeface="Angsana New" panose="02020603050405020304" pitchFamily="18" charset="-34"/>
              </a:rPr>
              <a:t>ทำซ้ำ10ครั้ง</a:t>
            </a:r>
          </a:p>
          <a:p>
            <a:r>
              <a:rPr lang="th-TH" dirty="0">
                <a:latin typeface="Angsana New" panose="02020603050405020304" pitchFamily="18" charset="-34"/>
                <a:cs typeface="Angsana New" panose="02020603050405020304" pitchFamily="18" charset="-34"/>
              </a:rPr>
              <a:t>วันละ 2 ครั้ง เช้า-เย็น</a:t>
            </a:r>
          </a:p>
          <a:p>
            <a:endParaRPr lang="th-TH" dirty="0"/>
          </a:p>
        </p:txBody>
      </p:sp>
      <p:pic>
        <p:nvPicPr>
          <p:cNvPr id="7" name="รูปภาพ 6">
            <a:extLst>
              <a:ext uri="{FF2B5EF4-FFF2-40B4-BE49-F238E27FC236}">
                <a16:creationId xmlns:a16="http://schemas.microsoft.com/office/drawing/2014/main" id="{5C544362-5D49-40E2-ACC6-B61B6F2E77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660" y="3933056"/>
            <a:ext cx="2870260" cy="1728191"/>
          </a:xfrm>
          <a:prstGeom prst="rect">
            <a:avLst/>
          </a:prstGeom>
        </p:spPr>
      </p:pic>
      <p:sp>
        <p:nvSpPr>
          <p:cNvPr id="8" name="สี่เหลี่ยมผืนผ้า 7">
            <a:extLst>
              <a:ext uri="{FF2B5EF4-FFF2-40B4-BE49-F238E27FC236}">
                <a16:creationId xmlns:a16="http://schemas.microsoft.com/office/drawing/2014/main" id="{FC7E5968-72E9-484D-854E-51938E352341}"/>
              </a:ext>
            </a:extLst>
          </p:cNvPr>
          <p:cNvSpPr/>
          <p:nvPr/>
        </p:nvSpPr>
        <p:spPr>
          <a:xfrm>
            <a:off x="5109148" y="3661062"/>
            <a:ext cx="3567308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h-TH" sz="2600" dirty="0">
                <a:latin typeface="Angsana New" panose="02020603050405020304" pitchFamily="18" charset="-34"/>
                <a:cs typeface="Angsana New" panose="02020603050405020304" pitchFamily="18" charset="-34"/>
              </a:rPr>
              <a:t>                                             </a:t>
            </a:r>
            <a:r>
              <a:rPr lang="th-TH" sz="26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ท่าที่ </a:t>
            </a:r>
            <a:r>
              <a:rPr lang="en-US" sz="26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8</a:t>
            </a:r>
          </a:p>
          <a:p>
            <a:r>
              <a:rPr lang="th-TH" sz="2600" dirty="0">
                <a:latin typeface="Angsana New" panose="02020603050405020304" pitchFamily="18" charset="-34"/>
                <a:cs typeface="Angsana New" panose="02020603050405020304" pitchFamily="18" charset="-34"/>
              </a:rPr>
              <a:t>งอข้อเข่าและข้อสะโพกขึ้นลง</a:t>
            </a:r>
          </a:p>
          <a:p>
            <a:r>
              <a:rPr lang="th-TH" sz="2600" dirty="0">
                <a:latin typeface="Angsana New" panose="02020603050405020304" pitchFamily="18" charset="-34"/>
                <a:cs typeface="Angsana New" panose="02020603050405020304" pitchFamily="18" charset="-34"/>
              </a:rPr>
              <a:t>สลับกัน 10 ครั้ง     </a:t>
            </a:r>
          </a:p>
          <a:p>
            <a:r>
              <a:rPr lang="th-TH" sz="2600" dirty="0">
                <a:latin typeface="Angsana New" panose="02020603050405020304" pitchFamily="18" charset="-34"/>
                <a:cs typeface="Angsana New" panose="02020603050405020304" pitchFamily="18" charset="-34"/>
              </a:rPr>
              <a:t>วันละ 2 ครั้ง เช้า-เย็น</a:t>
            </a:r>
          </a:p>
        </p:txBody>
      </p:sp>
    </p:spTree>
    <p:extLst>
      <p:ext uri="{BB962C8B-B14F-4D97-AF65-F5344CB8AC3E}">
        <p14:creationId xmlns:p14="http://schemas.microsoft.com/office/powerpoint/2010/main" val="16608891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B0C14851-E283-420D-8EEB-658FE50CF3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468560" y="476672"/>
            <a:ext cx="5190728" cy="792088"/>
          </a:xfrm>
        </p:spPr>
        <p:txBody>
          <a:bodyPr>
            <a:normAutofit/>
          </a:bodyPr>
          <a:lstStyle/>
          <a:p>
            <a:r>
              <a:rPr lang="th-TH" sz="38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ท่าบริหารฟื้นฟูผู้ป่วยโรคหัวใจ</a:t>
            </a:r>
          </a:p>
        </p:txBody>
      </p:sp>
      <p:pic>
        <p:nvPicPr>
          <p:cNvPr id="4" name="รูปภาพ 3">
            <a:extLst>
              <a:ext uri="{FF2B5EF4-FFF2-40B4-BE49-F238E27FC236}">
                <a16:creationId xmlns:a16="http://schemas.microsoft.com/office/drawing/2014/main" id="{E3C2B86A-20E5-4DD6-B220-1215061381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657" y="1844824"/>
            <a:ext cx="3303311" cy="1800200"/>
          </a:xfrm>
          <a:prstGeom prst="rect">
            <a:avLst/>
          </a:prstGeom>
        </p:spPr>
      </p:pic>
      <p:sp>
        <p:nvSpPr>
          <p:cNvPr id="3" name="ชื่อเรื่องรอง 2">
            <a:extLst>
              <a:ext uri="{FF2B5EF4-FFF2-40B4-BE49-F238E27FC236}">
                <a16:creationId xmlns:a16="http://schemas.microsoft.com/office/drawing/2014/main" id="{0D6BC5E7-B72A-4077-8AB1-BBD928EB22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4652" y="1676400"/>
            <a:ext cx="7854696" cy="4488904"/>
          </a:xfrm>
        </p:spPr>
        <p:txBody>
          <a:bodyPr/>
          <a:lstStyle/>
          <a:p>
            <a:r>
              <a:rPr lang="th-TH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ท่าที่ </a:t>
            </a:r>
            <a:r>
              <a:rPr lang="en-US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9</a:t>
            </a:r>
          </a:p>
          <a:p>
            <a:r>
              <a:rPr lang="th-TH" dirty="0">
                <a:latin typeface="Angsana New" panose="02020603050405020304" pitchFamily="18" charset="-34"/>
                <a:cs typeface="Angsana New" panose="02020603050405020304" pitchFamily="18" charset="-34"/>
              </a:rPr>
              <a:t>ยกแขนขึ้นเหนือศีรษะ เอียงตัว</a:t>
            </a:r>
          </a:p>
          <a:p>
            <a:r>
              <a:rPr lang="th-TH" dirty="0">
                <a:latin typeface="Angsana New" panose="02020603050405020304" pitchFamily="18" charset="-34"/>
                <a:cs typeface="Angsana New" panose="02020603050405020304" pitchFamily="18" charset="-34"/>
              </a:rPr>
              <a:t>ไปซ้ายขวา สลับกัน     10 ครั้ง    </a:t>
            </a:r>
          </a:p>
          <a:p>
            <a:r>
              <a:rPr lang="th-TH" dirty="0">
                <a:latin typeface="Angsana New" panose="02020603050405020304" pitchFamily="18" charset="-34"/>
                <a:cs typeface="Angsana New" panose="02020603050405020304" pitchFamily="18" charset="-34"/>
              </a:rPr>
              <a:t>วันละ 2 ครั้ง เช้า-เย็น</a:t>
            </a:r>
          </a:p>
          <a:p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3822456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ชื่อเรื่อง 3"/>
          <p:cNvSpPr>
            <a:spLocks noGrp="1"/>
          </p:cNvSpPr>
          <p:nvPr>
            <p:ph type="ctrTitle"/>
          </p:nvPr>
        </p:nvSpPr>
        <p:spPr>
          <a:xfrm>
            <a:off x="0" y="1038436"/>
            <a:ext cx="7995664" cy="1036712"/>
          </a:xfrm>
        </p:spPr>
        <p:txBody>
          <a:bodyPr>
            <a:normAutofit fontScale="90000"/>
          </a:bodyPr>
          <a:lstStyle/>
          <a:p>
            <a:r>
              <a:rPr lang="th-TH" sz="51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ข้อบ่งชี้ในการหยุดการฟื้นฟูสมรรถภาพหัวใจ </a:t>
            </a:r>
            <a:br>
              <a:rPr lang="en-US" dirty="0">
                <a:latin typeface="Cordia New" pitchFamily="34" charset="-34"/>
                <a:cs typeface="Cordia New" pitchFamily="34" charset="-34"/>
              </a:rPr>
            </a:br>
            <a:endParaRPr lang="th-TH" dirty="0">
              <a:latin typeface="Cordia New" pitchFamily="34" charset="-34"/>
              <a:cs typeface="Cordia New" pitchFamily="34" charset="-34"/>
            </a:endParaRPr>
          </a:p>
        </p:txBody>
      </p:sp>
      <p:sp>
        <p:nvSpPr>
          <p:cNvPr id="5" name="ชื่อเรื่องรอง 4"/>
          <p:cNvSpPr>
            <a:spLocks noGrp="1"/>
          </p:cNvSpPr>
          <p:nvPr>
            <p:ph type="subTitle" idx="1"/>
          </p:nvPr>
        </p:nvSpPr>
        <p:spPr>
          <a:xfrm>
            <a:off x="647728" y="1340768"/>
            <a:ext cx="7848544" cy="4824536"/>
          </a:xfrm>
        </p:spPr>
        <p:txBody>
          <a:bodyPr>
            <a:noAutofit/>
          </a:bodyPr>
          <a:lstStyle/>
          <a:p>
            <a:pPr algn="l"/>
            <a:r>
              <a:rPr lang="en-US" sz="28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1.</a:t>
            </a:r>
            <a:r>
              <a:rPr lang="th-TH" sz="28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เหนื่อย  </a:t>
            </a:r>
            <a:r>
              <a:rPr lang="en-US" sz="28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RR &gt; 30 </a:t>
            </a:r>
            <a:r>
              <a:rPr lang="th-TH" sz="28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ครั้ง/นาที,02 </a:t>
            </a:r>
            <a:r>
              <a:rPr lang="en-US" sz="28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sat  ≤   95%</a:t>
            </a:r>
          </a:p>
          <a:p>
            <a:pPr algn="l"/>
            <a:r>
              <a:rPr lang="en-US" sz="28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2.</a:t>
            </a:r>
            <a:r>
              <a:rPr lang="th-TH" sz="28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มีอาการเจ็บหน้าอกแบบ </a:t>
            </a:r>
            <a:r>
              <a:rPr lang="en-US" sz="28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Angina</a:t>
            </a:r>
          </a:p>
          <a:p>
            <a:pPr algn="l"/>
            <a:r>
              <a:rPr lang="en-US" sz="28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3.</a:t>
            </a:r>
            <a:r>
              <a:rPr lang="th-TH" sz="28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มีอาการใจสั่น , หน้ามืด เวียนศีรษะ</a:t>
            </a:r>
          </a:p>
          <a:p>
            <a:pPr algn="l"/>
            <a:r>
              <a:rPr lang="th-TH" sz="28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4.</a:t>
            </a:r>
            <a:r>
              <a:rPr lang="en-US" sz="28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HR &gt; 120 BPM </a:t>
            </a:r>
            <a:r>
              <a:rPr lang="th-TH" sz="28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หรือเพิ่มขึ้นมากกว่า 20 -30 </a:t>
            </a:r>
            <a:r>
              <a:rPr lang="en-US" sz="28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BPM </a:t>
            </a:r>
            <a:r>
              <a:rPr lang="th-TH" sz="28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จากขณะพัก</a:t>
            </a:r>
          </a:p>
          <a:p>
            <a:pPr algn="l"/>
            <a:r>
              <a:rPr lang="th-TH" sz="28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5.</a:t>
            </a:r>
            <a:r>
              <a:rPr lang="en-US" sz="28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SBP </a:t>
            </a:r>
            <a:r>
              <a:rPr lang="th-TH" sz="28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ลดลงมากกว่า  20 </a:t>
            </a:r>
            <a:r>
              <a:rPr lang="en-US" sz="28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mmHg ,</a:t>
            </a:r>
            <a:r>
              <a:rPr lang="th-TH" sz="28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เพิ่มขึ้นมากกว่า 40 </a:t>
            </a:r>
            <a:r>
              <a:rPr lang="en-US" sz="28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mmHg </a:t>
            </a:r>
            <a:r>
              <a:rPr lang="th-TH" sz="28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จาก </a:t>
            </a:r>
            <a:r>
              <a:rPr lang="en-US" sz="28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baseline </a:t>
            </a:r>
            <a:r>
              <a:rPr lang="th-TH" sz="28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เดิม</a:t>
            </a:r>
          </a:p>
          <a:p>
            <a:pPr algn="l"/>
            <a:r>
              <a:rPr lang="th-TH" sz="28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6.</a:t>
            </a:r>
            <a:r>
              <a:rPr lang="en-US" sz="28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DBP </a:t>
            </a:r>
            <a:r>
              <a:rPr lang="th-TH" sz="28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เพิ่มขึ้นหรือลดลงมากกว่า 20 </a:t>
            </a:r>
            <a:r>
              <a:rPr lang="en-US" sz="28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mmHg </a:t>
            </a:r>
            <a:r>
              <a:rPr lang="th-TH" sz="28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จาก </a:t>
            </a:r>
            <a:r>
              <a:rPr lang="en-US" sz="28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baseline</a:t>
            </a:r>
          </a:p>
          <a:p>
            <a:pPr algn="l"/>
            <a:r>
              <a:rPr lang="en-US" sz="28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7.EKG change </a:t>
            </a:r>
            <a:r>
              <a:rPr lang="th-TH" sz="28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จาก </a:t>
            </a:r>
            <a:r>
              <a:rPr lang="en-US" sz="28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baseline</a:t>
            </a:r>
            <a:r>
              <a:rPr lang="th-TH" sz="28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เดิม เช่น </a:t>
            </a:r>
            <a:r>
              <a:rPr lang="en-US" sz="28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ST elevation ›1mm,ST depression ›1mm,newLBBB, new inverted  T                                      </a:t>
            </a:r>
          </a:p>
          <a:p>
            <a:pPr algn="l"/>
            <a:r>
              <a:rPr lang="en-US" sz="28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8.EKG </a:t>
            </a:r>
            <a:r>
              <a:rPr lang="th-TH" sz="28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มี  </a:t>
            </a:r>
            <a:r>
              <a:rPr lang="en-US" sz="28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arrhythmia </a:t>
            </a:r>
            <a:r>
              <a:rPr lang="th-TH" sz="28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เช่น </a:t>
            </a:r>
            <a:r>
              <a:rPr lang="en-US" sz="28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PVC &gt; 6 BPM, short run VT (≥3beat),VT,SVT,AF c rapid ventricular </a:t>
            </a:r>
            <a:r>
              <a:rPr lang="en-US" sz="2800" b="1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response,second</a:t>
            </a:r>
            <a:r>
              <a:rPr lang="en-US" sz="28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 degree AV </a:t>
            </a:r>
            <a:r>
              <a:rPr lang="en-US" sz="2800" b="1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block,Third</a:t>
            </a:r>
            <a:r>
              <a:rPr lang="en-US" sz="28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 degree AV block</a:t>
            </a:r>
          </a:p>
          <a:p>
            <a:pPr algn="l"/>
            <a:endParaRPr lang="th-TH" b="1" dirty="0">
              <a:latin typeface="Cordia New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6780801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ชื่อเรื่อง 3"/>
          <p:cNvSpPr>
            <a:spLocks noGrp="1"/>
          </p:cNvSpPr>
          <p:nvPr>
            <p:ph type="ctrTitle"/>
          </p:nvPr>
        </p:nvSpPr>
        <p:spPr>
          <a:xfrm>
            <a:off x="646176" y="852591"/>
            <a:ext cx="7851648" cy="1396752"/>
          </a:xfrm>
        </p:spPr>
        <p:txBody>
          <a:bodyPr>
            <a:noAutofit/>
          </a:bodyPr>
          <a:lstStyle/>
          <a:p>
            <a:pPr algn="l"/>
            <a:r>
              <a:rPr lang="th-TH" sz="50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การฟื้นฟูสมรรถภาพหัวใจ </a:t>
            </a:r>
            <a:br>
              <a:rPr lang="th-TH" sz="50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</a:br>
            <a:r>
              <a:rPr lang="th-TH" sz="50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หลังออกจากโรงพยาบาล</a:t>
            </a:r>
          </a:p>
        </p:txBody>
      </p:sp>
      <p:sp>
        <p:nvSpPr>
          <p:cNvPr id="5" name="ชื่อเรื่องรอง 4"/>
          <p:cNvSpPr>
            <a:spLocks noGrp="1"/>
          </p:cNvSpPr>
          <p:nvPr>
            <p:ph type="subTitle" idx="1"/>
          </p:nvPr>
        </p:nvSpPr>
        <p:spPr>
          <a:xfrm>
            <a:off x="612713" y="2598776"/>
            <a:ext cx="8427848" cy="4019763"/>
          </a:xfrm>
        </p:spPr>
        <p:txBody>
          <a:bodyPr>
            <a:noAutofit/>
          </a:bodyPr>
          <a:lstStyle/>
          <a:p>
            <a:pPr algn="l"/>
            <a:r>
              <a:rPr lang="th-TH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           เนื่องจากในระยะพักฟื้น    หลังออกจากโรงพยาบาล</a:t>
            </a:r>
          </a:p>
          <a:p>
            <a:pPr algn="l"/>
            <a:r>
              <a:rPr lang="th-TH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กล้ามเนื้อหัวใจยังอยู่ในระยะหายที่ไม่สมบูรณ์   </a:t>
            </a:r>
            <a:r>
              <a:rPr lang="th-TH" sz="4000" b="1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การทำ</a:t>
            </a:r>
            <a:endParaRPr lang="th-TH" sz="40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l"/>
            <a:r>
              <a:rPr lang="th-TH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กิจกรรมหรือการออกแรง</a:t>
            </a:r>
            <a:r>
              <a:rPr lang="th-TH" sz="4000" b="1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ต่างๆ</a:t>
            </a:r>
            <a:r>
              <a:rPr lang="th-TH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ต้องไม่เพิ่มมาก  เพราะอาจจะ</a:t>
            </a:r>
          </a:p>
          <a:p>
            <a:pPr algn="l"/>
            <a:r>
              <a:rPr lang="th-TH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เกิดอันตรายที่รุนแรงต่อหัวใจได้  ดังนั้น การให้คำแนะนำ</a:t>
            </a:r>
          </a:p>
          <a:p>
            <a:pPr algn="l"/>
            <a:r>
              <a:rPr lang="th-TH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ในการเลือกกิจกรรมที่เหมาะสมจึงเป็นสิ่งสำคัญ </a:t>
            </a:r>
          </a:p>
        </p:txBody>
      </p:sp>
    </p:spTree>
    <p:extLst>
      <p:ext uri="{BB962C8B-B14F-4D97-AF65-F5344CB8AC3E}">
        <p14:creationId xmlns:p14="http://schemas.microsoft.com/office/powerpoint/2010/main" val="38760728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ชื่อเรื่อง 3"/>
          <p:cNvSpPr>
            <a:spLocks noGrp="1"/>
          </p:cNvSpPr>
          <p:nvPr>
            <p:ph type="ctrTitle"/>
          </p:nvPr>
        </p:nvSpPr>
        <p:spPr>
          <a:xfrm>
            <a:off x="697994" y="679485"/>
            <a:ext cx="7845496" cy="923528"/>
          </a:xfrm>
        </p:spPr>
        <p:txBody>
          <a:bodyPr>
            <a:normAutofit fontScale="90000"/>
          </a:bodyPr>
          <a:lstStyle/>
          <a:p>
            <a:pPr algn="l"/>
            <a:br>
              <a:rPr lang="th-TH" sz="4200" dirty="0">
                <a:latin typeface="Cordia New" pitchFamily="34" charset="-34"/>
              </a:rPr>
            </a:br>
            <a:r>
              <a:rPr lang="th-TH" sz="53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คำแนะนำสำหรับกิจกรรมและการออกกำลังกาย</a:t>
            </a:r>
          </a:p>
        </p:txBody>
      </p:sp>
      <p:sp>
        <p:nvSpPr>
          <p:cNvPr id="5" name="ชื่อเรื่องรอง 4"/>
          <p:cNvSpPr>
            <a:spLocks noGrp="1"/>
          </p:cNvSpPr>
          <p:nvPr>
            <p:ph type="subTitle" idx="1"/>
          </p:nvPr>
        </p:nvSpPr>
        <p:spPr>
          <a:xfrm>
            <a:off x="539552" y="1628800"/>
            <a:ext cx="7998712" cy="4896544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-</a:t>
            </a:r>
            <a:r>
              <a:rPr lang="th-TH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เน้นให้ผู้ป่วยทราบถึงประโยชน์ของการออกกำลังกายและผลเสียของการทำกิจกรรมไม่เหมาะสมกับโรค</a:t>
            </a:r>
          </a:p>
          <a:p>
            <a:pPr algn="l"/>
            <a:r>
              <a:rPr lang="en-US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-</a:t>
            </a:r>
            <a:r>
              <a:rPr lang="th-TH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แนะนำการออกกำลังกายและกิจกรรมที่เหมาะสม </a:t>
            </a:r>
          </a:p>
          <a:p>
            <a:pPr algn="l"/>
            <a:r>
              <a:rPr lang="en-US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-</a:t>
            </a:r>
            <a:r>
              <a:rPr lang="th-TH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แนะนำการประเมินตนเองก่อนและหลังการออกกำลังกาย เช่น การจับชีพจร อาการผิดปกติต่างๆที่อาจเกิดขึ้นขณะออกกำลังกาย</a:t>
            </a:r>
          </a:p>
          <a:p>
            <a:pPr algn="l"/>
            <a:r>
              <a:rPr lang="en-US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-</a:t>
            </a:r>
            <a:r>
              <a:rPr lang="th-TH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แนะนำการแก้ไขปัญหาที่อาจเกิดขึ้นขณะออกกำลังกาย</a:t>
            </a:r>
          </a:p>
          <a:p>
            <a:pPr algn="l"/>
            <a:endParaRPr lang="th-TH" dirty="0"/>
          </a:p>
          <a:p>
            <a:pPr algn="l"/>
            <a:endParaRPr lang="th-TH" dirty="0"/>
          </a:p>
          <a:p>
            <a:pPr algn="l"/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40380413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3352A793-F371-4D66-AE3C-C7570ECFA6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9860" y="692696"/>
            <a:ext cx="7851648" cy="905272"/>
          </a:xfrm>
        </p:spPr>
        <p:txBody>
          <a:bodyPr>
            <a:normAutofit/>
          </a:bodyPr>
          <a:lstStyle/>
          <a:p>
            <a:pPr algn="l"/>
            <a:r>
              <a:rPr lang="th-TH" sz="54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หลักการการวางแผนการจำหน่าย</a:t>
            </a:r>
          </a:p>
        </p:txBody>
      </p:sp>
      <p:sp>
        <p:nvSpPr>
          <p:cNvPr id="3" name="ชื่อเรื่องรอง 2">
            <a:extLst>
              <a:ext uri="{FF2B5EF4-FFF2-40B4-BE49-F238E27FC236}">
                <a16:creationId xmlns:a16="http://schemas.microsoft.com/office/drawing/2014/main" id="{BD445C4B-B3B4-4941-8311-CBAB53043F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4652" y="1988840"/>
            <a:ext cx="7854696" cy="4464496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th-TH" sz="16000" b="1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ทำใน</a:t>
            </a:r>
            <a:r>
              <a:rPr lang="th-TH" sz="16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ผู้ป่วยทุกรายเนื่องจาก</a:t>
            </a:r>
          </a:p>
          <a:p>
            <a:pPr algn="l"/>
            <a:endParaRPr lang="th-TH" sz="160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l"/>
            <a:r>
              <a:rPr lang="th-TH" sz="16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-เป็นโรคที่คุกคามถึงแก่ชีวิต</a:t>
            </a:r>
          </a:p>
          <a:p>
            <a:pPr algn="l"/>
            <a:endParaRPr lang="th-TH" sz="160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l"/>
            <a:r>
              <a:rPr lang="th-TH" sz="16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-เป็นโรคที่ต้องการการปรับเปลี่ยนพฤติกรรมให้เหมาะสม</a:t>
            </a:r>
          </a:p>
          <a:p>
            <a:pPr algn="l"/>
            <a:endParaRPr lang="th-TH" sz="160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l"/>
            <a:r>
              <a:rPr lang="th-TH" sz="16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กับโรค</a:t>
            </a:r>
          </a:p>
          <a:p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9119135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510428F3-FBCD-449B-9C08-DCECFCC001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352" y="908720"/>
            <a:ext cx="7851648" cy="905272"/>
          </a:xfrm>
        </p:spPr>
        <p:txBody>
          <a:bodyPr>
            <a:normAutofit/>
          </a:bodyPr>
          <a:lstStyle/>
          <a:p>
            <a:pPr algn="l"/>
            <a:r>
              <a:rPr lang="th-TH" sz="54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ขั้นตอนการวางแผนการจำหน่าย</a:t>
            </a:r>
          </a:p>
        </p:txBody>
      </p:sp>
      <p:sp>
        <p:nvSpPr>
          <p:cNvPr id="3" name="ชื่อเรื่องรอง 2">
            <a:extLst>
              <a:ext uri="{FF2B5EF4-FFF2-40B4-BE49-F238E27FC236}">
                <a16:creationId xmlns:a16="http://schemas.microsoft.com/office/drawing/2014/main" id="{501D8747-4EB4-44EF-A26D-DF88FACA41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8922" y="1924190"/>
            <a:ext cx="8249542" cy="4933810"/>
          </a:xfrm>
        </p:spPr>
        <p:txBody>
          <a:bodyPr/>
          <a:lstStyle/>
          <a:p>
            <a:pPr algn="l"/>
            <a:r>
              <a:rPr lang="th-TH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-ประเมินปัจจัยเสี่ยงในผู้ป่วยแต่ละราย</a:t>
            </a:r>
          </a:p>
          <a:p>
            <a:pPr algn="l"/>
            <a:r>
              <a:rPr lang="th-TH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-หา </a:t>
            </a:r>
            <a:r>
              <a:rPr lang="en-US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care giver </a:t>
            </a:r>
            <a:r>
              <a:rPr lang="th-TH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เพื่อช่วยเหลือในการควบคุมปรับเปลี่ยนพฤติกรรม</a:t>
            </a:r>
          </a:p>
          <a:p>
            <a:pPr algn="l"/>
            <a:r>
              <a:rPr lang="th-TH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-ให้ความรู้เพื่อลดปัจจัยเสี่ยงที่สามารถควบคุมได้และลดโอกาสที่ทำให้เกิดโรคซ้ำหรืออาการของโรครุนแรงมากขึ้น</a:t>
            </a:r>
          </a:p>
          <a:p>
            <a:pPr algn="l"/>
            <a:r>
              <a:rPr lang="th-TH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-ประสานงานหน่วยการพยาบาลต่อเนื่องเพื่อติดตามและให้ความช่วยเหลือผู้ป่วยหลังกลับบ้าน</a:t>
            </a:r>
          </a:p>
          <a:p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45598645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B94A4D66-68E3-4627-BEAD-9C49ABA9BE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620688"/>
            <a:ext cx="7851648" cy="977280"/>
          </a:xfrm>
        </p:spPr>
        <p:txBody>
          <a:bodyPr>
            <a:normAutofit/>
          </a:bodyPr>
          <a:lstStyle/>
          <a:p>
            <a:pPr algn="l"/>
            <a:r>
              <a:rPr lang="th-TH" sz="54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ประเมินปัจจัยเสี่ยงในผู้ป่วยแต่ละราย</a:t>
            </a:r>
          </a:p>
        </p:txBody>
      </p:sp>
      <p:sp>
        <p:nvSpPr>
          <p:cNvPr id="3" name="ชื่อเรื่องรอง 2">
            <a:extLst>
              <a:ext uri="{FF2B5EF4-FFF2-40B4-BE49-F238E27FC236}">
                <a16:creationId xmlns:a16="http://schemas.microsoft.com/office/drawing/2014/main" id="{8EF105AE-9F65-4000-8FB9-1A66A74719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5558" y="1739704"/>
            <a:ext cx="7854696" cy="4497607"/>
          </a:xfrm>
        </p:spPr>
        <p:txBody>
          <a:bodyPr/>
          <a:lstStyle/>
          <a:p>
            <a:pPr algn="l"/>
            <a:r>
              <a:rPr lang="th-TH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-ความดันโลหิตสูง</a:t>
            </a:r>
          </a:p>
          <a:p>
            <a:pPr algn="l"/>
            <a:r>
              <a:rPr lang="th-TH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-ไขมันในเลือดสูง</a:t>
            </a:r>
          </a:p>
          <a:p>
            <a:pPr algn="l"/>
            <a:r>
              <a:rPr lang="th-TH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-การสูบบุหรี่</a:t>
            </a:r>
          </a:p>
          <a:p>
            <a:pPr algn="l"/>
            <a:r>
              <a:rPr lang="th-TH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-โรคเบาหวาน</a:t>
            </a:r>
          </a:p>
          <a:p>
            <a:pPr algn="l"/>
            <a:r>
              <a:rPr lang="th-TH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-ละเลยการออกกำลังกาย</a:t>
            </a:r>
          </a:p>
          <a:p>
            <a:pPr algn="l"/>
            <a:r>
              <a:rPr lang="th-TH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-โรคอ้วน น้ำหนักเกิน</a:t>
            </a:r>
          </a:p>
          <a:p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17338812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C209676E-B2B1-435F-B9FB-2DFAD1C71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8606" y="620688"/>
            <a:ext cx="7851648" cy="1828800"/>
          </a:xfrm>
        </p:spPr>
        <p:txBody>
          <a:bodyPr>
            <a:normAutofit/>
          </a:bodyPr>
          <a:lstStyle/>
          <a:p>
            <a:pPr algn="l"/>
            <a:r>
              <a:rPr lang="th-TH" sz="54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หา </a:t>
            </a:r>
            <a:r>
              <a:rPr lang="en-US" sz="54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care giver </a:t>
            </a:r>
            <a:r>
              <a:rPr lang="th-TH" sz="54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เพื่อช่วยเหลือในการควบคุมปรับเปลี่ยนพฤติกรรม</a:t>
            </a:r>
            <a:r>
              <a:rPr lang="th-TH" sz="5400" dirty="0" err="1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ต่างๆ</a:t>
            </a:r>
            <a:r>
              <a:rPr lang="th-TH" sz="54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ดังนี้</a:t>
            </a:r>
          </a:p>
        </p:txBody>
      </p:sp>
      <p:sp>
        <p:nvSpPr>
          <p:cNvPr id="3" name="ชื่อเรื่องรอง 2">
            <a:extLst>
              <a:ext uri="{FF2B5EF4-FFF2-40B4-BE49-F238E27FC236}">
                <a16:creationId xmlns:a16="http://schemas.microsoft.com/office/drawing/2014/main" id="{06D521FE-0880-4313-8052-557BD5B512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6448" y="2694620"/>
            <a:ext cx="7854696" cy="4147864"/>
          </a:xfrm>
        </p:spPr>
        <p:txBody>
          <a:bodyPr>
            <a:normAutofit/>
          </a:bodyPr>
          <a:lstStyle/>
          <a:p>
            <a:pPr algn="l"/>
            <a:r>
              <a:rPr lang="th-TH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-ช่วยเหลือในการรับประทานอาหารที่เหมาะสม</a:t>
            </a:r>
          </a:p>
          <a:p>
            <a:pPr algn="l"/>
            <a:r>
              <a:rPr lang="th-TH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-การจัดยารับประทานอย่างต่อเนื่อง</a:t>
            </a:r>
          </a:p>
          <a:p>
            <a:pPr algn="l"/>
            <a:r>
              <a:rPr lang="th-TH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-การให้กำลังใจการงดสูบบุหรี่</a:t>
            </a:r>
          </a:p>
          <a:p>
            <a:pPr algn="l"/>
            <a:r>
              <a:rPr lang="th-TH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-การกระตุ้นและเลือกการออกกำลังกายที่เหมาะสม </a:t>
            </a:r>
          </a:p>
          <a:p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107411536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021B8F9B-8B19-4A6F-BA06-1EE401D178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6448" y="836712"/>
            <a:ext cx="7851648" cy="1828800"/>
          </a:xfrm>
        </p:spPr>
        <p:txBody>
          <a:bodyPr>
            <a:noAutofit/>
          </a:bodyPr>
          <a:lstStyle/>
          <a:p>
            <a:pPr algn="l"/>
            <a:r>
              <a:rPr lang="th-TH" sz="40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ให้ความรู้เพื่อลดปัจจัยเสี่ยงที่สามารถควบคุมได้และลดโอกาสที่ทำให้เกิดโรคซ้ำหรืออาการของโรครุนแรงมากขึ้น มีขั้นตอนดังนี้</a:t>
            </a:r>
          </a:p>
        </p:txBody>
      </p:sp>
      <p:sp>
        <p:nvSpPr>
          <p:cNvPr id="3" name="ชื่อเรื่องรอง 2">
            <a:extLst>
              <a:ext uri="{FF2B5EF4-FFF2-40B4-BE49-F238E27FC236}">
                <a16:creationId xmlns:a16="http://schemas.microsoft.com/office/drawing/2014/main" id="{49210385-2DFC-442B-83FF-1885312AEA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4652" y="2658017"/>
            <a:ext cx="7854696" cy="3800011"/>
          </a:xfrm>
        </p:spPr>
        <p:txBody>
          <a:bodyPr>
            <a:noAutofit/>
          </a:bodyPr>
          <a:lstStyle/>
          <a:p>
            <a:pPr algn="l"/>
            <a:r>
              <a:rPr lang="en-US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-pre test </a:t>
            </a:r>
            <a:endParaRPr lang="th-TH" sz="36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l"/>
            <a:r>
              <a:rPr lang="th-TH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-ดู </a:t>
            </a:r>
            <a:r>
              <a:rPr lang="en-US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CD </a:t>
            </a:r>
            <a:r>
              <a:rPr lang="th-TH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ความรู้เรื่องโรค,กิจกรรมและการออกกำลังกายที่เหมาะสม,การงดสูบบุหรี่</a:t>
            </a:r>
          </a:p>
          <a:p>
            <a:pPr algn="l"/>
            <a:r>
              <a:rPr lang="th-TH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-แจกคู่มือความรู้เรื่องที่สอน</a:t>
            </a:r>
          </a:p>
          <a:p>
            <a:pPr algn="l"/>
            <a:r>
              <a:rPr lang="th-TH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-ประเมิน </a:t>
            </a:r>
            <a:r>
              <a:rPr lang="en-US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post test</a:t>
            </a:r>
          </a:p>
          <a:p>
            <a:pPr algn="l"/>
            <a:r>
              <a:rPr lang="en-US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-</a:t>
            </a:r>
            <a:r>
              <a:rPr lang="th-TH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ทบทวนซ้ำในหัวข้อที่ยังเข้าใจไม่ถูกต้อง</a:t>
            </a:r>
          </a:p>
          <a:p>
            <a:endParaRPr lang="th-TH" sz="3600" dirty="0"/>
          </a:p>
        </p:txBody>
      </p:sp>
    </p:spTree>
    <p:extLst>
      <p:ext uri="{BB962C8B-B14F-4D97-AF65-F5344CB8AC3E}">
        <p14:creationId xmlns:p14="http://schemas.microsoft.com/office/powerpoint/2010/main" val="273343415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1E690254-C7EC-4767-ABBA-968942948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6448" y="884312"/>
            <a:ext cx="7851648" cy="1265312"/>
          </a:xfrm>
        </p:spPr>
        <p:txBody>
          <a:bodyPr>
            <a:normAutofit fontScale="90000"/>
          </a:bodyPr>
          <a:lstStyle/>
          <a:p>
            <a:pPr algn="l"/>
            <a:r>
              <a:rPr lang="th-TH" sz="44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ประสานงานหน่วยการพยาบาลต่อเนื่องเพื่อติดตามและให้ความช่วยเหลือผู้ป่วยหลังกลับบ้านโดยมีรายละเอียดดังนี้</a:t>
            </a:r>
          </a:p>
        </p:txBody>
      </p:sp>
      <p:sp>
        <p:nvSpPr>
          <p:cNvPr id="3" name="ชื่อเรื่องรอง 2">
            <a:extLst>
              <a:ext uri="{FF2B5EF4-FFF2-40B4-BE49-F238E27FC236}">
                <a16:creationId xmlns:a16="http://schemas.microsoft.com/office/drawing/2014/main" id="{4117ABCA-1E89-456F-ABEA-3A008756FB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2259822"/>
            <a:ext cx="7854696" cy="4193514"/>
          </a:xfrm>
        </p:spPr>
        <p:txBody>
          <a:bodyPr/>
          <a:lstStyle/>
          <a:p>
            <a:pPr algn="l"/>
            <a:r>
              <a:rPr lang="en-US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-</a:t>
            </a:r>
            <a:r>
              <a:rPr lang="th-TH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สอบถามความยินยอมในการเยี่ยมบ้าน</a:t>
            </a:r>
          </a:p>
          <a:p>
            <a:pPr algn="l"/>
            <a:r>
              <a:rPr lang="en-US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-</a:t>
            </a:r>
            <a:r>
              <a:rPr lang="th-TH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กรอกที่อยู่ที่ติดต่อได้ ลงรายการปัญหาที่ต้องการให้ติดตามต่อ</a:t>
            </a:r>
          </a:p>
          <a:p>
            <a:pPr algn="l"/>
            <a:r>
              <a:rPr lang="en-US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-</a:t>
            </a:r>
            <a:r>
              <a:rPr lang="th-TH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ส่งใบเยี่ยมบ้าน</a:t>
            </a:r>
          </a:p>
          <a:p>
            <a:pPr algn="l"/>
            <a:r>
              <a:rPr lang="en-US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-</a:t>
            </a:r>
            <a:r>
              <a:rPr lang="th-TH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หน่วยการพยาบาลต่อเนื่องส่งต่อข้อมูลที่ได้ภายหลังการติดตามลงในระบบข้อมูลโรงพยาบาล</a:t>
            </a:r>
          </a:p>
          <a:p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95404979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C60C58EE-AE02-457F-8013-F5F8BBA061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6120" y="692696"/>
            <a:ext cx="7851648" cy="761256"/>
          </a:xfrm>
        </p:spPr>
        <p:txBody>
          <a:bodyPr>
            <a:normAutofit fontScale="90000"/>
          </a:bodyPr>
          <a:lstStyle/>
          <a:p>
            <a:pPr algn="l"/>
            <a:r>
              <a:rPr lang="th-TH" sz="54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กรณีศึกษา</a:t>
            </a:r>
          </a:p>
        </p:txBody>
      </p:sp>
      <p:sp>
        <p:nvSpPr>
          <p:cNvPr id="3" name="ชื่อเรื่องรอง 2">
            <a:extLst>
              <a:ext uri="{FF2B5EF4-FFF2-40B4-BE49-F238E27FC236}">
                <a16:creationId xmlns:a16="http://schemas.microsoft.com/office/drawing/2014/main" id="{494327F7-EEAA-404A-BADE-93DDB87219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6120" y="1453952"/>
            <a:ext cx="7854696" cy="5071392"/>
          </a:xfrm>
        </p:spPr>
        <p:txBody>
          <a:bodyPr>
            <a:normAutofit lnSpcReduction="10000"/>
          </a:bodyPr>
          <a:lstStyle/>
          <a:p>
            <a:pPr algn="l"/>
            <a:r>
              <a:rPr lang="th-TH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ผู้ป่วยชายไทย อายุ </a:t>
            </a:r>
            <a:r>
              <a:rPr lang="en-US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54 </a:t>
            </a:r>
            <a:r>
              <a:rPr lang="th-TH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ปี รับ </a:t>
            </a:r>
            <a:r>
              <a:rPr lang="en-US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refer </a:t>
            </a:r>
            <a:r>
              <a:rPr lang="th-TH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8.00 น ด้วยเรื่อง </a:t>
            </a:r>
            <a:r>
              <a:rPr lang="en-US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Acute anterior wall STEMI Post r-</a:t>
            </a:r>
            <a:r>
              <a:rPr lang="en-US" sz="3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tPA</a:t>
            </a:r>
            <a:r>
              <a:rPr lang="en-US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th-TH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  ยังมี </a:t>
            </a:r>
            <a:r>
              <a:rPr lang="en-US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chest pain EKG 12 lead: Q wave in V1-V3, decreased STE&lt; 50% </a:t>
            </a:r>
            <a:r>
              <a:rPr lang="th-TH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ได้รับ</a:t>
            </a:r>
            <a:r>
              <a:rPr lang="th-TH" sz="3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การทำ</a:t>
            </a:r>
            <a:r>
              <a:rPr lang="th-TH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หัตถการ </a:t>
            </a:r>
            <a:r>
              <a:rPr lang="en-US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CAG with PCI</a:t>
            </a:r>
            <a:r>
              <a:rPr lang="th-TH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 ผล </a:t>
            </a:r>
            <a:r>
              <a:rPr lang="en-US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CAG(SVD)  </a:t>
            </a:r>
            <a:r>
              <a:rPr lang="th-TH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แรกรับ ไม่มีอาการเหนื่อย  อัตราการหายใจ 20 ครั้งต่อนาที </a:t>
            </a:r>
            <a:r>
              <a:rPr lang="en-US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O2 sat 98% (room air) </a:t>
            </a:r>
            <a:r>
              <a:rPr lang="th-TH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ไม่มีอาการเจ็บแน่นหน้าอก ความดันโลหิต 127/85 มิลลิเมตรปรอท  </a:t>
            </a:r>
            <a:r>
              <a:rPr lang="en-US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MAP 95 </a:t>
            </a:r>
            <a:r>
              <a:rPr lang="th-TH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มิลลิเมตรปรอท อุณหภูมิร่างกาย 36.4 องศาเซลเซียส อัตราการเต้นของหัวใจ 72 ครั้งต่อนาที  </a:t>
            </a:r>
            <a:r>
              <a:rPr lang="en-US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EKG </a:t>
            </a:r>
            <a:r>
              <a:rPr lang="th-TH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เป็น </a:t>
            </a:r>
            <a:r>
              <a:rPr lang="en-US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sinus rhythm  </a:t>
            </a:r>
            <a:r>
              <a:rPr lang="th-TH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มีแผล </a:t>
            </a:r>
            <a:r>
              <a:rPr lang="en-US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Post CAG with PCI   puncture at right radial artery </a:t>
            </a:r>
            <a:r>
              <a:rPr lang="th-TH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แผลหลัง </a:t>
            </a:r>
            <a:r>
              <a:rPr lang="en-US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off sheath  on TR band  </a:t>
            </a:r>
            <a:r>
              <a:rPr lang="th-TH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ไว้</a:t>
            </a:r>
            <a:endParaRPr lang="en-US" sz="3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l"/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4642607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4202C093-21AE-43AE-BE0E-1530AB3BFE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6176" y="908720"/>
            <a:ext cx="7851648" cy="689248"/>
          </a:xfrm>
        </p:spPr>
        <p:txBody>
          <a:bodyPr>
            <a:normAutofit fontScale="90000"/>
          </a:bodyPr>
          <a:lstStyle/>
          <a:p>
            <a:pPr algn="l"/>
            <a:r>
              <a:rPr lang="th-TH" sz="54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กรณีศึกษา</a:t>
            </a:r>
          </a:p>
        </p:txBody>
      </p:sp>
      <p:sp>
        <p:nvSpPr>
          <p:cNvPr id="3" name="ชื่อเรื่องรอง 2">
            <a:extLst>
              <a:ext uri="{FF2B5EF4-FFF2-40B4-BE49-F238E27FC236}">
                <a16:creationId xmlns:a16="http://schemas.microsoft.com/office/drawing/2014/main" id="{7A6F3AA5-114F-4C0A-B08A-DA31C0C337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6176" y="1676400"/>
            <a:ext cx="7854696" cy="4920952"/>
          </a:xfrm>
        </p:spPr>
        <p:txBody>
          <a:bodyPr>
            <a:normAutofit/>
          </a:bodyPr>
          <a:lstStyle/>
          <a:p>
            <a:pPr algn="l"/>
            <a:r>
              <a:rPr lang="th-TH" sz="3600" b="1" u="sng" dirty="0">
                <a:latin typeface="Angsana New" panose="02020603050405020304" pitchFamily="18" charset="-34"/>
                <a:cs typeface="Angsana New" panose="02020603050405020304" pitchFamily="18" charset="-34"/>
              </a:rPr>
              <a:t>วันที่ 2 </a:t>
            </a:r>
            <a:r>
              <a:rPr lang="th-TH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ของโรค 8.00 นผู้ป่วยรู้สึกตัวดี  ไม่มีอาการเหนื่อย  อัตราการหายใจ 20 ครั้งต่อนาที </a:t>
            </a:r>
            <a:r>
              <a:rPr lang="en-US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O2 sat 100%(room air) </a:t>
            </a:r>
            <a:r>
              <a:rPr lang="th-TH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ไม่มีอาการเจ็บแน่นหน้าอก ความดันโลหิต 120/68 มิลลิเมตรปรอท  </a:t>
            </a:r>
            <a:r>
              <a:rPr lang="en-US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MAP 85 </a:t>
            </a:r>
            <a:r>
              <a:rPr lang="th-TH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มิลลิเมตรปรอท    อุณหภูมิร่างกาย 37.2 องศาเซลเซียส อัตราการเต้นของหัวใจ 70 ครั้งต่อนาที </a:t>
            </a:r>
            <a:r>
              <a:rPr lang="en-US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EKG </a:t>
            </a:r>
            <a:r>
              <a:rPr lang="th-TH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เป็น </a:t>
            </a:r>
            <a:r>
              <a:rPr lang="en-US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sinus rhythm  </a:t>
            </a:r>
            <a:r>
              <a:rPr lang="th-TH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ไม่มี </a:t>
            </a:r>
            <a:r>
              <a:rPr lang="en-US" sz="3600" b="1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arrthymia</a:t>
            </a:r>
            <a:r>
              <a:rPr lang="en-US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  </a:t>
            </a:r>
            <a:r>
              <a:rPr lang="th-TH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มีแผล </a:t>
            </a:r>
            <a:r>
              <a:rPr lang="en-US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Post CAG with PCI   puncture at right radial artery </a:t>
            </a:r>
            <a:r>
              <a:rPr lang="th-TH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ปิดแผลด้วย  </a:t>
            </a:r>
            <a:r>
              <a:rPr lang="en-US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Tegaderm with pad </a:t>
            </a:r>
            <a:r>
              <a:rPr lang="th-TH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แผล </a:t>
            </a:r>
            <a:r>
              <a:rPr lang="en-US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no bleeding no hematoma</a:t>
            </a:r>
            <a:endParaRPr lang="th-TH" sz="36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88300728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837CC92C-9C42-4330-BEAD-F67B795F9F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764704"/>
            <a:ext cx="7851648" cy="689248"/>
          </a:xfrm>
        </p:spPr>
        <p:txBody>
          <a:bodyPr>
            <a:normAutofit fontScale="90000"/>
          </a:bodyPr>
          <a:lstStyle/>
          <a:p>
            <a:pPr algn="l"/>
            <a:r>
              <a:rPr lang="th-TH" sz="54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กรณีศึกษา</a:t>
            </a:r>
          </a:p>
        </p:txBody>
      </p:sp>
      <p:sp>
        <p:nvSpPr>
          <p:cNvPr id="3" name="ชื่อเรื่องรอง 2">
            <a:extLst>
              <a:ext uri="{FF2B5EF4-FFF2-40B4-BE49-F238E27FC236}">
                <a16:creationId xmlns:a16="http://schemas.microsoft.com/office/drawing/2014/main" id="{416E29A0-BFF7-472F-8452-431798DDF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399" y="1453952"/>
            <a:ext cx="7854696" cy="4999384"/>
          </a:xfrm>
        </p:spPr>
        <p:txBody>
          <a:bodyPr>
            <a:noAutofit/>
          </a:bodyPr>
          <a:lstStyle/>
          <a:p>
            <a:pPr algn="l"/>
            <a:r>
              <a:rPr lang="th-TH" sz="3400" b="1" u="sng" dirty="0">
                <a:latin typeface="Angsana New" panose="02020603050405020304" pitchFamily="18" charset="-34"/>
                <a:cs typeface="Angsana New" panose="02020603050405020304" pitchFamily="18" charset="-34"/>
              </a:rPr>
              <a:t>วันที่ 3 </a:t>
            </a:r>
            <a:r>
              <a:rPr lang="th-TH" sz="34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ของโรค  8.00 น ผู้ป่วยรู้สึกตัวดี  ไม่มีอาการเหนื่อย  อัตราการหายใจ 18 ครั้งต่อนาที </a:t>
            </a:r>
            <a:r>
              <a:rPr lang="en-US" sz="34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O2 sat 100%(room air) </a:t>
            </a:r>
            <a:r>
              <a:rPr lang="th-TH" sz="34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ไม่มีอาการเจ็บแน่นหน้าอก ความดันโลหิต 106/70 มิลลิเมตรปรอท </a:t>
            </a:r>
            <a:r>
              <a:rPr lang="en-US" sz="34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MAP 82 </a:t>
            </a:r>
            <a:r>
              <a:rPr lang="th-TH" sz="34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มิลลิเมตรปรอท อุณหภูมิร่างกาย 36.7 องศาเซลเซียส อัตราการเต้นของหัวใจ 72 ครั้งต่อนาที </a:t>
            </a:r>
            <a:r>
              <a:rPr lang="en-US" sz="34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EKG </a:t>
            </a:r>
            <a:r>
              <a:rPr lang="th-TH" sz="34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เป็น </a:t>
            </a:r>
            <a:r>
              <a:rPr lang="en-US" sz="34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sinus rhythm  </a:t>
            </a:r>
            <a:r>
              <a:rPr lang="th-TH" sz="34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ไม่มี </a:t>
            </a:r>
            <a:r>
              <a:rPr lang="en-US" sz="34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arrhythmia </a:t>
            </a:r>
            <a:r>
              <a:rPr lang="th-TH" sz="34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มีแผล </a:t>
            </a:r>
            <a:r>
              <a:rPr lang="en-US" sz="34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Post CAG with PCI   puncture at right radial artery </a:t>
            </a:r>
            <a:r>
              <a:rPr lang="th-TH" sz="34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ปิดแผลด้วย </a:t>
            </a:r>
            <a:r>
              <a:rPr lang="en-US" sz="34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Tegaderm with pad </a:t>
            </a:r>
            <a:r>
              <a:rPr lang="th-TH" sz="34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แผล </a:t>
            </a:r>
            <a:r>
              <a:rPr lang="en-US" sz="34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no bleeding no hematoma </a:t>
            </a:r>
            <a:r>
              <a:rPr lang="th-TH" sz="34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แพทย์เตรียมให้จำหน่ายกลับบ้านวันนี้ได้  นัดติดตามอาการกับคลินิกสำหรับผู้ป่วยกล้ามเนื้อหัวใจตายอีก 2 สัปดาห์ </a:t>
            </a:r>
          </a:p>
        </p:txBody>
      </p:sp>
    </p:spTree>
    <p:extLst>
      <p:ext uri="{BB962C8B-B14F-4D97-AF65-F5344CB8AC3E}">
        <p14:creationId xmlns:p14="http://schemas.microsoft.com/office/powerpoint/2010/main" val="158963807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7E577A37-448F-4CDE-898A-C6BF894413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6448" y="908720"/>
            <a:ext cx="7851648" cy="545232"/>
          </a:xfrm>
        </p:spPr>
        <p:txBody>
          <a:bodyPr>
            <a:normAutofit fontScale="90000"/>
          </a:bodyPr>
          <a:lstStyle/>
          <a:p>
            <a:pPr algn="l"/>
            <a:r>
              <a:rPr lang="th-TH" sz="5400" dirty="0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สรุป</a:t>
            </a:r>
          </a:p>
        </p:txBody>
      </p:sp>
      <p:sp>
        <p:nvSpPr>
          <p:cNvPr id="3" name="ชื่อเรื่องรอง 2">
            <a:extLst>
              <a:ext uri="{FF2B5EF4-FFF2-40B4-BE49-F238E27FC236}">
                <a16:creationId xmlns:a16="http://schemas.microsoft.com/office/drawing/2014/main" id="{50FFEAE3-728D-4F75-A7A2-3CC5C6692A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9549" y="1453952"/>
            <a:ext cx="7854696" cy="4752528"/>
          </a:xfrm>
        </p:spPr>
        <p:txBody>
          <a:bodyPr>
            <a:normAutofit lnSpcReduction="10000"/>
          </a:bodyPr>
          <a:lstStyle/>
          <a:p>
            <a:pPr algn="l"/>
            <a:r>
              <a:rPr lang="th-TH" sz="4000" dirty="0">
                <a:latin typeface="Angsana New" panose="02020603050405020304" pitchFamily="18" charset="-34"/>
                <a:cs typeface="Angsana New" panose="02020603050405020304" pitchFamily="18" charset="-34"/>
              </a:rPr>
              <a:t>       </a:t>
            </a:r>
            <a:r>
              <a:rPr lang="th-TH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ฟื้นฟูสมรรถภาพหัวใจของผู้ป่วยทั้งในและนอกโรงพยาบาลต้องคำนึงถึงประโยชน์และความปลอดภัยของผู้ป่วยเป็นสิ่งสำคัญ และจะประสบความสำเร็จได้           ไม่เพียงแต่การให้การฟื้นฟูสมรรถภาพทางร่างกายเท่านั้น ต้องคำนึงถึง แบบแผนการดำเนินชีวิต ปัจจัยด้านจิตวิทยาสังคมของผู้ป่วย และต้องทำควบคู่ไปกับการวางแผนการจำหน่ายเพื่อปรับเปลี่ยนพฤติกรรมในการลดปัจจัยเสี่ยงของการเกิดโรคซ้ำและลดความรุนแรงของโรค</a:t>
            </a:r>
          </a:p>
          <a:p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2446745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8A533294-99F7-41A9-9A76-5B63782023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th-TH" sz="8000" dirty="0">
                <a:solidFill>
                  <a:srgbClr val="C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ขอบคุณค่ะ</a:t>
            </a:r>
          </a:p>
        </p:txBody>
      </p:sp>
      <p:sp>
        <p:nvSpPr>
          <p:cNvPr id="3" name="ชื่อเรื่องรอง 2">
            <a:extLst>
              <a:ext uri="{FF2B5EF4-FFF2-40B4-BE49-F238E27FC236}">
                <a16:creationId xmlns:a16="http://schemas.microsoft.com/office/drawing/2014/main" id="{4A3378F0-BD5F-4339-BF99-5E58F26112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8974584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ไหลเวียน">
  <a:themeElements>
    <a:clrScheme name="ไหลเวียน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ไหลเวียน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ไหลเวียน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ชุดรูปแบบของ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2202</TotalTime>
  <Words>3221</Words>
  <Application>Microsoft Office PowerPoint</Application>
  <PresentationFormat>On-screen Show (4:3)</PresentationFormat>
  <Paragraphs>270</Paragraphs>
  <Slides>48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4" baseType="lpstr">
      <vt:lpstr>Angsana New</vt:lpstr>
      <vt:lpstr>Calibri</vt:lpstr>
      <vt:lpstr>Constantia</vt:lpstr>
      <vt:lpstr>Cordia New</vt:lpstr>
      <vt:lpstr>Wingdings 2</vt:lpstr>
      <vt:lpstr>ไหลเวียน</vt:lpstr>
      <vt:lpstr>Role of nurse  for  rehabilitation in cardiovascular patients</vt:lpstr>
      <vt:lpstr>การฟื้นฟูสมรรถภาพหัวใจ(cardiac rehabilitation</vt:lpstr>
      <vt:lpstr>การเคลื่อนไหวร่างกาย</vt:lpstr>
      <vt:lpstr>ประโยชน์ของการฟื้นฟูสมรรถภาพหัวใจ</vt:lpstr>
      <vt:lpstr>องค์ประกอบของการฟื้นฟูสมรรถภาพหัวใจ</vt:lpstr>
      <vt:lpstr>การฟื้นฟูสมรรถภาพหัวใจแบ่งเป็น 4 ระยะ</vt:lpstr>
      <vt:lpstr> การพยาบาลการฟื้นฟูสมรรถภาพหัวใจ</vt:lpstr>
      <vt:lpstr>จุดประสงค์การฟื้นฟูสมรรถภาพหัวใจขณะผู้ป่วยอยู่ในโรงพยาบาล  </vt:lpstr>
      <vt:lpstr>ผลเสียจากการนอนต่อเนื่องเป็นเวลานาน </vt:lpstr>
      <vt:lpstr>หลักการฟื้นฟูสมรรถภาพหัวใจผู้ป่วยกล้ามเนื้อหัวใจขาดเลือดเฉียบพลันระยะผู้ป่วยใน</vt:lpstr>
      <vt:lpstr>อาการผิดปกติจากการออกแรงที่ไม่เหมาะสม</vt:lpstr>
      <vt:lpstr>cardiac insufficiency หรือ exertional intolerance แบ่งเป็น 2 สาเหตุ </vt:lpstr>
      <vt:lpstr>หลักการสำคัญของการทำการฟื้นฟูสมรรถภาพหัวใจ</vt:lpstr>
      <vt:lpstr>การกำหนดพลังงานที่ใช้ในการทำกิจกรรม</vt:lpstr>
      <vt:lpstr>ค่าการเผาผลาญพลังงานของกิจกรรมทางกายในกิจวัตรประจำวันเปรียบเทียบค่าต่ำสุด-ค่าสูงสุด (MET)</vt:lpstr>
      <vt:lpstr>ขั้นตอนการฟื้นฟูสมรรถภาพหัวใจระยะผู้ป่วยใน</vt:lpstr>
      <vt:lpstr>ขั้นตอนการฟื้นฟูสมรรถภาพหัวใจระยะผู้ป่วยใน</vt:lpstr>
      <vt:lpstr>ข้อบ่งชี้ก่อนทำการฟื้นฟูสมรรถภาพหัวใจ</vt:lpstr>
      <vt:lpstr>โปรแกรมการฟื้นฟูสมรรถภาพหัวใจระยะผู้ป่วยในแบ่งเป็น 5 ระดับ ดังนี้</vt:lpstr>
      <vt:lpstr>ตัวอย่างโปรแกรมการฟื้นฟูสมรรถภาพหัวใจระยะผู้ป่วยใน</vt:lpstr>
      <vt:lpstr>ตัวอย่างโปรแกรมการฟื้นฟูสมรรถภาพหัวใจระยะผู้ป่วยใน</vt:lpstr>
      <vt:lpstr>ตัวอย่างโปรแกรมการฟื้นฟูสมรรถภาพหัวใจระยะผู้ป่วยใน</vt:lpstr>
      <vt:lpstr>ตัวอย่างโปรแกรมการฟื้นฟูสมรรถภาพหัวใจระยะผู้ป่วยใน</vt:lpstr>
      <vt:lpstr>ตัวอย่างโปรแกรมการฟื้นฟูสมรรถภาพหัวใจระยะผู้ป่วยใน</vt:lpstr>
      <vt:lpstr>ตัวอย่างโปรแกรมการฟื้นฟูสมรรถภาพหัวใจระยะผู้ป่วยใน</vt:lpstr>
      <vt:lpstr>ตัวอย่างโปรแกรมการฟื้นฟูสมรรถภาพหัวใจระยะผู้ป่วยใน</vt:lpstr>
      <vt:lpstr>ตัวอย่างโปรแกรมการฟื้นฟูสมรรถภาพหัวใจระยะผู้ป่วยใน</vt:lpstr>
      <vt:lpstr>ตัวอย่างโปรแกรมการฟื้นฟูสมรรถภาพหัวใจระยะผู้ป่วยใน</vt:lpstr>
      <vt:lpstr>ตัวอย่างโปรแกรมการฟื้นฟูสมรรถภาพหัวใจระยะผู้ป่วยใน</vt:lpstr>
      <vt:lpstr>ท่าบริหารฟื้นฟูผู้ป่วยโรคหัวใจ</vt:lpstr>
      <vt:lpstr>ท่าบริหารฟื้นฟูผู้ป่วยโรคหัวใจ</vt:lpstr>
      <vt:lpstr>ท่าบริหารฟื้นฟูผู้ป่วยโรคหัวใจ</vt:lpstr>
      <vt:lpstr>ท่าบริหารฟื้นฟูผู้ป่วยโรคหัวใจ</vt:lpstr>
      <vt:lpstr>ท่าบริหารฟื้นฟูผู้ป่วยโรคหัวใจ</vt:lpstr>
      <vt:lpstr>ข้อบ่งชี้ในการหยุดการฟื้นฟูสมรรถภาพหัวใจ  </vt:lpstr>
      <vt:lpstr>การฟื้นฟูสมรรถภาพหัวใจ  หลังออกจากโรงพยาบาล</vt:lpstr>
      <vt:lpstr> คำแนะนำสำหรับกิจกรรมและการออกกำลังกาย</vt:lpstr>
      <vt:lpstr>หลักการการวางแผนการจำหน่าย</vt:lpstr>
      <vt:lpstr>ขั้นตอนการวางแผนการจำหน่าย</vt:lpstr>
      <vt:lpstr>ประเมินปัจจัยเสี่ยงในผู้ป่วยแต่ละราย</vt:lpstr>
      <vt:lpstr>หา care giver เพื่อช่วยเหลือในการควบคุมปรับเปลี่ยนพฤติกรรมต่างๆดังนี้</vt:lpstr>
      <vt:lpstr>ให้ความรู้เพื่อลดปัจจัยเสี่ยงที่สามารถควบคุมได้และลดโอกาสที่ทำให้เกิดโรคซ้ำหรืออาการของโรครุนแรงมากขึ้น มีขั้นตอนดังนี้</vt:lpstr>
      <vt:lpstr>ประสานงานหน่วยการพยาบาลต่อเนื่องเพื่อติดตามและให้ความช่วยเหลือผู้ป่วยหลังกลับบ้านโดยมีรายละเอียดดังนี้</vt:lpstr>
      <vt:lpstr>กรณีศึกษา</vt:lpstr>
      <vt:lpstr>กรณีศึกษา</vt:lpstr>
      <vt:lpstr>กรณีศึกษา</vt:lpstr>
      <vt:lpstr>สรุป</vt:lpstr>
      <vt:lpstr>ขอบคุณค่ะ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งานนำเสนอ PowerPoint</dc:title>
  <dc:creator>Windows User</dc:creator>
  <cp:lastModifiedBy>amnuay wilai</cp:lastModifiedBy>
  <cp:revision>156</cp:revision>
  <dcterms:created xsi:type="dcterms:W3CDTF">2017-07-13T07:15:21Z</dcterms:created>
  <dcterms:modified xsi:type="dcterms:W3CDTF">2026-05-21T01:07:38Z</dcterms:modified>
</cp:coreProperties>
</file>